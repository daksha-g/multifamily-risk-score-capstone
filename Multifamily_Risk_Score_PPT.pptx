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3"/>
    <p:restoredTop sz="94684"/>
  </p:normalViewPr>
  <p:slideViewPr>
    <p:cSldViewPr snapToGrid="0">
      <p:cViewPr>
        <p:scale>
          <a:sx n="108" d="100"/>
          <a:sy n="108" d="100"/>
        </p:scale>
        <p:origin x="14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AE8E0-DF48-4F22-800D-8BAD3F308A7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788F2F-ADC4-40FE-AEDE-5D0554C13C2F}">
      <dgm:prSet/>
      <dgm:spPr/>
      <dgm:t>
        <a:bodyPr/>
        <a:lstStyle/>
        <a:p>
          <a:r>
            <a:rPr lang="en-US" b="1"/>
            <a:t>Problem Statement</a:t>
          </a:r>
          <a:endParaRPr lang="en-US"/>
        </a:p>
      </dgm:t>
    </dgm:pt>
    <dgm:pt modelId="{F9DBB909-8949-45DC-BA60-FC18A451FDE2}" type="parTrans" cxnId="{449F1EB7-F999-41DC-B4DE-4D3574987279}">
      <dgm:prSet/>
      <dgm:spPr/>
      <dgm:t>
        <a:bodyPr/>
        <a:lstStyle/>
        <a:p>
          <a:endParaRPr lang="en-US"/>
        </a:p>
      </dgm:t>
    </dgm:pt>
    <dgm:pt modelId="{959A70DD-1C6A-44C5-A0CA-7AE40B8D278F}" type="sibTrans" cxnId="{449F1EB7-F999-41DC-B4DE-4D3574987279}">
      <dgm:prSet/>
      <dgm:spPr/>
      <dgm:t>
        <a:bodyPr/>
        <a:lstStyle/>
        <a:p>
          <a:endParaRPr lang="en-US"/>
        </a:p>
      </dgm:t>
    </dgm:pt>
    <dgm:pt modelId="{633C4D74-01AA-436B-8120-FA24433B59CA}">
      <dgm:prSet/>
      <dgm:spPr/>
      <dgm:t>
        <a:bodyPr/>
        <a:lstStyle/>
        <a:p>
          <a:r>
            <a:rPr lang="en-US" b="1"/>
            <a:t>Data Sources</a:t>
          </a:r>
          <a:endParaRPr lang="en-US"/>
        </a:p>
      </dgm:t>
    </dgm:pt>
    <dgm:pt modelId="{89094921-E68C-4385-9F05-08EBF3C857AB}" type="parTrans" cxnId="{65C89985-1F38-40A2-874D-CDA4AC4A662D}">
      <dgm:prSet/>
      <dgm:spPr/>
      <dgm:t>
        <a:bodyPr/>
        <a:lstStyle/>
        <a:p>
          <a:endParaRPr lang="en-US"/>
        </a:p>
      </dgm:t>
    </dgm:pt>
    <dgm:pt modelId="{4AE6683C-E372-483B-8416-19730D766E5A}" type="sibTrans" cxnId="{65C89985-1F38-40A2-874D-CDA4AC4A662D}">
      <dgm:prSet/>
      <dgm:spPr/>
      <dgm:t>
        <a:bodyPr/>
        <a:lstStyle/>
        <a:p>
          <a:endParaRPr lang="en-US"/>
        </a:p>
      </dgm:t>
    </dgm:pt>
    <dgm:pt modelId="{B0A34FC2-9933-4D39-AA2C-540FB58000B3}">
      <dgm:prSet/>
      <dgm:spPr/>
      <dgm:t>
        <a:bodyPr/>
        <a:lstStyle/>
        <a:p>
          <a:r>
            <a:rPr lang="en-US" b="1"/>
            <a:t>Key EDA Findings</a:t>
          </a:r>
          <a:endParaRPr lang="en-US"/>
        </a:p>
      </dgm:t>
    </dgm:pt>
    <dgm:pt modelId="{72F4E903-6EE1-40B9-81C0-E5B0C932D5C9}" type="parTrans" cxnId="{E8039B5E-1BCA-4F75-B241-C84D3BD4972D}">
      <dgm:prSet/>
      <dgm:spPr/>
      <dgm:t>
        <a:bodyPr/>
        <a:lstStyle/>
        <a:p>
          <a:endParaRPr lang="en-US"/>
        </a:p>
      </dgm:t>
    </dgm:pt>
    <dgm:pt modelId="{95F2E496-91A0-4F6D-9417-A60170068A57}" type="sibTrans" cxnId="{E8039B5E-1BCA-4F75-B241-C84D3BD4972D}">
      <dgm:prSet/>
      <dgm:spPr/>
      <dgm:t>
        <a:bodyPr/>
        <a:lstStyle/>
        <a:p>
          <a:endParaRPr lang="en-US"/>
        </a:p>
      </dgm:t>
    </dgm:pt>
    <dgm:pt modelId="{3D39F8A0-1388-4BC6-869A-59BC964301C9}">
      <dgm:prSet/>
      <dgm:spPr/>
      <dgm:t>
        <a:bodyPr/>
        <a:lstStyle/>
        <a:p>
          <a:r>
            <a:rPr lang="en-US" b="1"/>
            <a:t>Modeling Approach</a:t>
          </a:r>
          <a:endParaRPr lang="en-US"/>
        </a:p>
      </dgm:t>
    </dgm:pt>
    <dgm:pt modelId="{45940FD1-98C2-4923-AAF5-8AED0F5D0D9E}" type="parTrans" cxnId="{68A77A03-8FCC-4F42-9F07-FDF26CB9B06A}">
      <dgm:prSet/>
      <dgm:spPr/>
      <dgm:t>
        <a:bodyPr/>
        <a:lstStyle/>
        <a:p>
          <a:endParaRPr lang="en-US"/>
        </a:p>
      </dgm:t>
    </dgm:pt>
    <dgm:pt modelId="{07FF14D0-3ADC-4ED8-83D1-B36F42FC0B23}" type="sibTrans" cxnId="{68A77A03-8FCC-4F42-9F07-FDF26CB9B06A}">
      <dgm:prSet/>
      <dgm:spPr/>
      <dgm:t>
        <a:bodyPr/>
        <a:lstStyle/>
        <a:p>
          <a:endParaRPr lang="en-US"/>
        </a:p>
      </dgm:t>
    </dgm:pt>
    <dgm:pt modelId="{5D6AED4A-F553-43ED-BD25-53838C1CB42C}">
      <dgm:prSet/>
      <dgm:spPr/>
      <dgm:t>
        <a:bodyPr/>
        <a:lstStyle/>
        <a:p>
          <a:r>
            <a:rPr lang="en-US" b="1"/>
            <a:t>Results</a:t>
          </a:r>
          <a:endParaRPr lang="en-US"/>
        </a:p>
      </dgm:t>
    </dgm:pt>
    <dgm:pt modelId="{FF3F4014-EE10-48EC-871D-210AA6356192}" type="parTrans" cxnId="{05AD523C-97E3-43C8-8356-0686331EFAC8}">
      <dgm:prSet/>
      <dgm:spPr/>
      <dgm:t>
        <a:bodyPr/>
        <a:lstStyle/>
        <a:p>
          <a:endParaRPr lang="en-US"/>
        </a:p>
      </dgm:t>
    </dgm:pt>
    <dgm:pt modelId="{D89C79F8-DAE2-4481-952A-324D86859D37}" type="sibTrans" cxnId="{05AD523C-97E3-43C8-8356-0686331EFAC8}">
      <dgm:prSet/>
      <dgm:spPr/>
      <dgm:t>
        <a:bodyPr/>
        <a:lstStyle/>
        <a:p>
          <a:endParaRPr lang="en-US"/>
        </a:p>
      </dgm:t>
    </dgm:pt>
    <dgm:pt modelId="{CD055A8F-736C-4478-8A4E-EB346B23638C}">
      <dgm:prSet/>
      <dgm:spPr/>
      <dgm:t>
        <a:bodyPr/>
        <a:lstStyle/>
        <a:p>
          <a:r>
            <a:rPr lang="en-US" b="1"/>
            <a:t>Recommendations</a:t>
          </a:r>
          <a:endParaRPr lang="en-US"/>
        </a:p>
      </dgm:t>
    </dgm:pt>
    <dgm:pt modelId="{83DB0EE7-0ACC-48E6-8BF4-1B9C523BC024}" type="parTrans" cxnId="{4EB9E2C1-8968-4B38-9CE0-EFCC8C1F6EE2}">
      <dgm:prSet/>
      <dgm:spPr/>
      <dgm:t>
        <a:bodyPr/>
        <a:lstStyle/>
        <a:p>
          <a:endParaRPr lang="en-US"/>
        </a:p>
      </dgm:t>
    </dgm:pt>
    <dgm:pt modelId="{E94E19D0-5D86-4DE7-AA2C-CEAA56910236}" type="sibTrans" cxnId="{4EB9E2C1-8968-4B38-9CE0-EFCC8C1F6EE2}">
      <dgm:prSet/>
      <dgm:spPr/>
      <dgm:t>
        <a:bodyPr/>
        <a:lstStyle/>
        <a:p>
          <a:endParaRPr lang="en-US"/>
        </a:p>
      </dgm:t>
    </dgm:pt>
    <dgm:pt modelId="{8344E780-1F5F-D246-9FC9-2F39ADD0B40A}" type="pres">
      <dgm:prSet presAssocID="{5C1AE8E0-DF48-4F22-800D-8BAD3F308A78}" presName="vert0" presStyleCnt="0">
        <dgm:presLayoutVars>
          <dgm:dir/>
          <dgm:animOne val="branch"/>
          <dgm:animLvl val="lvl"/>
        </dgm:presLayoutVars>
      </dgm:prSet>
      <dgm:spPr/>
    </dgm:pt>
    <dgm:pt modelId="{021CA3A7-73E2-9F4E-9F6B-1052FE53B7FB}" type="pres">
      <dgm:prSet presAssocID="{D3788F2F-ADC4-40FE-AEDE-5D0554C13C2F}" presName="thickLine" presStyleLbl="alignNode1" presStyleIdx="0" presStyleCnt="6"/>
      <dgm:spPr/>
    </dgm:pt>
    <dgm:pt modelId="{95DAA28D-0892-5847-9D81-3C83BE17E3A5}" type="pres">
      <dgm:prSet presAssocID="{D3788F2F-ADC4-40FE-AEDE-5D0554C13C2F}" presName="horz1" presStyleCnt="0"/>
      <dgm:spPr/>
    </dgm:pt>
    <dgm:pt modelId="{4FAC406D-904C-694F-9D7D-8391A645108D}" type="pres">
      <dgm:prSet presAssocID="{D3788F2F-ADC4-40FE-AEDE-5D0554C13C2F}" presName="tx1" presStyleLbl="revTx" presStyleIdx="0" presStyleCnt="6"/>
      <dgm:spPr/>
    </dgm:pt>
    <dgm:pt modelId="{AEAA5EC0-8298-6A41-914F-9AD8E8FB9167}" type="pres">
      <dgm:prSet presAssocID="{D3788F2F-ADC4-40FE-AEDE-5D0554C13C2F}" presName="vert1" presStyleCnt="0"/>
      <dgm:spPr/>
    </dgm:pt>
    <dgm:pt modelId="{F9171AB1-A199-424B-AB83-BE36BF98165E}" type="pres">
      <dgm:prSet presAssocID="{633C4D74-01AA-436B-8120-FA24433B59CA}" presName="thickLine" presStyleLbl="alignNode1" presStyleIdx="1" presStyleCnt="6"/>
      <dgm:spPr/>
    </dgm:pt>
    <dgm:pt modelId="{D9D54253-69EC-2F41-A211-75656627082B}" type="pres">
      <dgm:prSet presAssocID="{633C4D74-01AA-436B-8120-FA24433B59CA}" presName="horz1" presStyleCnt="0"/>
      <dgm:spPr/>
    </dgm:pt>
    <dgm:pt modelId="{851FE92D-F340-9A47-9B8B-4B807F7A9B39}" type="pres">
      <dgm:prSet presAssocID="{633C4D74-01AA-436B-8120-FA24433B59CA}" presName="tx1" presStyleLbl="revTx" presStyleIdx="1" presStyleCnt="6"/>
      <dgm:spPr/>
    </dgm:pt>
    <dgm:pt modelId="{426D3573-B006-AE44-8B51-F0CEE9E0F858}" type="pres">
      <dgm:prSet presAssocID="{633C4D74-01AA-436B-8120-FA24433B59CA}" presName="vert1" presStyleCnt="0"/>
      <dgm:spPr/>
    </dgm:pt>
    <dgm:pt modelId="{045165A8-7774-7142-A6D0-7D873B6D6D8A}" type="pres">
      <dgm:prSet presAssocID="{B0A34FC2-9933-4D39-AA2C-540FB58000B3}" presName="thickLine" presStyleLbl="alignNode1" presStyleIdx="2" presStyleCnt="6"/>
      <dgm:spPr/>
    </dgm:pt>
    <dgm:pt modelId="{180EFDFB-4185-664D-B8D2-940EA59F19D7}" type="pres">
      <dgm:prSet presAssocID="{B0A34FC2-9933-4D39-AA2C-540FB58000B3}" presName="horz1" presStyleCnt="0"/>
      <dgm:spPr/>
    </dgm:pt>
    <dgm:pt modelId="{C9041848-D9AA-CA4E-BFFA-5976AD1B7EC9}" type="pres">
      <dgm:prSet presAssocID="{B0A34FC2-9933-4D39-AA2C-540FB58000B3}" presName="tx1" presStyleLbl="revTx" presStyleIdx="2" presStyleCnt="6"/>
      <dgm:spPr/>
    </dgm:pt>
    <dgm:pt modelId="{F047CF5A-8E4D-2843-A068-26CEFAB652AD}" type="pres">
      <dgm:prSet presAssocID="{B0A34FC2-9933-4D39-AA2C-540FB58000B3}" presName="vert1" presStyleCnt="0"/>
      <dgm:spPr/>
    </dgm:pt>
    <dgm:pt modelId="{4E18152D-C68F-CA41-B1AF-2224958FEC99}" type="pres">
      <dgm:prSet presAssocID="{3D39F8A0-1388-4BC6-869A-59BC964301C9}" presName="thickLine" presStyleLbl="alignNode1" presStyleIdx="3" presStyleCnt="6"/>
      <dgm:spPr/>
    </dgm:pt>
    <dgm:pt modelId="{4CE8A001-CCB9-594F-8757-8888E2443AE3}" type="pres">
      <dgm:prSet presAssocID="{3D39F8A0-1388-4BC6-869A-59BC964301C9}" presName="horz1" presStyleCnt="0"/>
      <dgm:spPr/>
    </dgm:pt>
    <dgm:pt modelId="{AA25C453-3E39-DB44-BF93-4299A9AECBB6}" type="pres">
      <dgm:prSet presAssocID="{3D39F8A0-1388-4BC6-869A-59BC964301C9}" presName="tx1" presStyleLbl="revTx" presStyleIdx="3" presStyleCnt="6"/>
      <dgm:spPr/>
    </dgm:pt>
    <dgm:pt modelId="{AA50A68F-BE03-9D42-8287-7CECB380AE02}" type="pres">
      <dgm:prSet presAssocID="{3D39F8A0-1388-4BC6-869A-59BC964301C9}" presName="vert1" presStyleCnt="0"/>
      <dgm:spPr/>
    </dgm:pt>
    <dgm:pt modelId="{3CB6711C-9DDC-4C40-9FCF-9FA31525A743}" type="pres">
      <dgm:prSet presAssocID="{5D6AED4A-F553-43ED-BD25-53838C1CB42C}" presName="thickLine" presStyleLbl="alignNode1" presStyleIdx="4" presStyleCnt="6"/>
      <dgm:spPr/>
    </dgm:pt>
    <dgm:pt modelId="{C5135E2C-48C9-7C43-9D53-C3E0C9066926}" type="pres">
      <dgm:prSet presAssocID="{5D6AED4A-F553-43ED-BD25-53838C1CB42C}" presName="horz1" presStyleCnt="0"/>
      <dgm:spPr/>
    </dgm:pt>
    <dgm:pt modelId="{297BA0E3-70FF-1844-9DF0-140AAFE99862}" type="pres">
      <dgm:prSet presAssocID="{5D6AED4A-F553-43ED-BD25-53838C1CB42C}" presName="tx1" presStyleLbl="revTx" presStyleIdx="4" presStyleCnt="6"/>
      <dgm:spPr/>
    </dgm:pt>
    <dgm:pt modelId="{5AA2423C-D1B2-584E-82CD-E35155E84460}" type="pres">
      <dgm:prSet presAssocID="{5D6AED4A-F553-43ED-BD25-53838C1CB42C}" presName="vert1" presStyleCnt="0"/>
      <dgm:spPr/>
    </dgm:pt>
    <dgm:pt modelId="{09A3F533-DFEB-4143-9B1E-B38305C94894}" type="pres">
      <dgm:prSet presAssocID="{CD055A8F-736C-4478-8A4E-EB346B23638C}" presName="thickLine" presStyleLbl="alignNode1" presStyleIdx="5" presStyleCnt="6"/>
      <dgm:spPr/>
    </dgm:pt>
    <dgm:pt modelId="{3A79971E-0FDD-384C-B3E9-17739F74F86D}" type="pres">
      <dgm:prSet presAssocID="{CD055A8F-736C-4478-8A4E-EB346B23638C}" presName="horz1" presStyleCnt="0"/>
      <dgm:spPr/>
    </dgm:pt>
    <dgm:pt modelId="{8DB32A28-5437-9949-8812-866EEAFBA6F5}" type="pres">
      <dgm:prSet presAssocID="{CD055A8F-736C-4478-8A4E-EB346B23638C}" presName="tx1" presStyleLbl="revTx" presStyleIdx="5" presStyleCnt="6"/>
      <dgm:spPr/>
    </dgm:pt>
    <dgm:pt modelId="{24C4F6AC-D8AD-C344-B6C3-84631151B638}" type="pres">
      <dgm:prSet presAssocID="{CD055A8F-736C-4478-8A4E-EB346B23638C}" presName="vert1" presStyleCnt="0"/>
      <dgm:spPr/>
    </dgm:pt>
  </dgm:ptLst>
  <dgm:cxnLst>
    <dgm:cxn modelId="{68A77A03-8FCC-4F42-9F07-FDF26CB9B06A}" srcId="{5C1AE8E0-DF48-4F22-800D-8BAD3F308A78}" destId="{3D39F8A0-1388-4BC6-869A-59BC964301C9}" srcOrd="3" destOrd="0" parTransId="{45940FD1-98C2-4923-AAF5-8AED0F5D0D9E}" sibTransId="{07FF14D0-3ADC-4ED8-83D1-B36F42FC0B23}"/>
    <dgm:cxn modelId="{D9B4350E-0640-E747-B345-5EC5D1F2448F}" type="presOf" srcId="{CD055A8F-736C-4478-8A4E-EB346B23638C}" destId="{8DB32A28-5437-9949-8812-866EEAFBA6F5}" srcOrd="0" destOrd="0" presId="urn:microsoft.com/office/officeart/2008/layout/LinedList"/>
    <dgm:cxn modelId="{26AE3B1D-7387-5A42-83DB-2635655FBF64}" type="presOf" srcId="{3D39F8A0-1388-4BC6-869A-59BC964301C9}" destId="{AA25C453-3E39-DB44-BF93-4299A9AECBB6}" srcOrd="0" destOrd="0" presId="urn:microsoft.com/office/officeart/2008/layout/LinedList"/>
    <dgm:cxn modelId="{62156F38-AC57-3F49-B810-0526B931C29C}" type="presOf" srcId="{B0A34FC2-9933-4D39-AA2C-540FB58000B3}" destId="{C9041848-D9AA-CA4E-BFFA-5976AD1B7EC9}" srcOrd="0" destOrd="0" presId="urn:microsoft.com/office/officeart/2008/layout/LinedList"/>
    <dgm:cxn modelId="{05AD523C-97E3-43C8-8356-0686331EFAC8}" srcId="{5C1AE8E0-DF48-4F22-800D-8BAD3F308A78}" destId="{5D6AED4A-F553-43ED-BD25-53838C1CB42C}" srcOrd="4" destOrd="0" parTransId="{FF3F4014-EE10-48EC-871D-210AA6356192}" sibTransId="{D89C79F8-DAE2-4481-952A-324D86859D37}"/>
    <dgm:cxn modelId="{70873052-5B44-4843-96EF-7456D4A16046}" type="presOf" srcId="{633C4D74-01AA-436B-8120-FA24433B59CA}" destId="{851FE92D-F340-9A47-9B8B-4B807F7A9B39}" srcOrd="0" destOrd="0" presId="urn:microsoft.com/office/officeart/2008/layout/LinedList"/>
    <dgm:cxn modelId="{E8039B5E-1BCA-4F75-B241-C84D3BD4972D}" srcId="{5C1AE8E0-DF48-4F22-800D-8BAD3F308A78}" destId="{B0A34FC2-9933-4D39-AA2C-540FB58000B3}" srcOrd="2" destOrd="0" parTransId="{72F4E903-6EE1-40B9-81C0-E5B0C932D5C9}" sibTransId="{95F2E496-91A0-4F6D-9417-A60170068A57}"/>
    <dgm:cxn modelId="{0900CA72-6372-2E4B-8AD9-D2ACE4CB903C}" type="presOf" srcId="{5C1AE8E0-DF48-4F22-800D-8BAD3F308A78}" destId="{8344E780-1F5F-D246-9FC9-2F39ADD0B40A}" srcOrd="0" destOrd="0" presId="urn:microsoft.com/office/officeart/2008/layout/LinedList"/>
    <dgm:cxn modelId="{65C89985-1F38-40A2-874D-CDA4AC4A662D}" srcId="{5C1AE8E0-DF48-4F22-800D-8BAD3F308A78}" destId="{633C4D74-01AA-436B-8120-FA24433B59CA}" srcOrd="1" destOrd="0" parTransId="{89094921-E68C-4385-9F05-08EBF3C857AB}" sibTransId="{4AE6683C-E372-483B-8416-19730D766E5A}"/>
    <dgm:cxn modelId="{11575B8D-A059-5A4A-88D3-8A431EF4865C}" type="presOf" srcId="{5D6AED4A-F553-43ED-BD25-53838C1CB42C}" destId="{297BA0E3-70FF-1844-9DF0-140AAFE99862}" srcOrd="0" destOrd="0" presId="urn:microsoft.com/office/officeart/2008/layout/LinedList"/>
    <dgm:cxn modelId="{449F1EB7-F999-41DC-B4DE-4D3574987279}" srcId="{5C1AE8E0-DF48-4F22-800D-8BAD3F308A78}" destId="{D3788F2F-ADC4-40FE-AEDE-5D0554C13C2F}" srcOrd="0" destOrd="0" parTransId="{F9DBB909-8949-45DC-BA60-FC18A451FDE2}" sibTransId="{959A70DD-1C6A-44C5-A0CA-7AE40B8D278F}"/>
    <dgm:cxn modelId="{4EB9E2C1-8968-4B38-9CE0-EFCC8C1F6EE2}" srcId="{5C1AE8E0-DF48-4F22-800D-8BAD3F308A78}" destId="{CD055A8F-736C-4478-8A4E-EB346B23638C}" srcOrd="5" destOrd="0" parTransId="{83DB0EE7-0ACC-48E6-8BF4-1B9C523BC024}" sibTransId="{E94E19D0-5D86-4DE7-AA2C-CEAA56910236}"/>
    <dgm:cxn modelId="{4B9AFDCB-60EF-A644-B012-AE7A3FF98E85}" type="presOf" srcId="{D3788F2F-ADC4-40FE-AEDE-5D0554C13C2F}" destId="{4FAC406D-904C-694F-9D7D-8391A645108D}" srcOrd="0" destOrd="0" presId="urn:microsoft.com/office/officeart/2008/layout/LinedList"/>
    <dgm:cxn modelId="{369CC7C0-9C6F-F142-BF9D-0C25BDB609CC}" type="presParOf" srcId="{8344E780-1F5F-D246-9FC9-2F39ADD0B40A}" destId="{021CA3A7-73E2-9F4E-9F6B-1052FE53B7FB}" srcOrd="0" destOrd="0" presId="urn:microsoft.com/office/officeart/2008/layout/LinedList"/>
    <dgm:cxn modelId="{265BAB24-BB6F-B84B-A8C3-B152F96430C7}" type="presParOf" srcId="{8344E780-1F5F-D246-9FC9-2F39ADD0B40A}" destId="{95DAA28D-0892-5847-9D81-3C83BE17E3A5}" srcOrd="1" destOrd="0" presId="urn:microsoft.com/office/officeart/2008/layout/LinedList"/>
    <dgm:cxn modelId="{3686AF68-A699-8A45-B01D-D1644671A550}" type="presParOf" srcId="{95DAA28D-0892-5847-9D81-3C83BE17E3A5}" destId="{4FAC406D-904C-694F-9D7D-8391A645108D}" srcOrd="0" destOrd="0" presId="urn:microsoft.com/office/officeart/2008/layout/LinedList"/>
    <dgm:cxn modelId="{B731765E-7BB6-3149-B25D-18BEEC93D0EB}" type="presParOf" srcId="{95DAA28D-0892-5847-9D81-3C83BE17E3A5}" destId="{AEAA5EC0-8298-6A41-914F-9AD8E8FB9167}" srcOrd="1" destOrd="0" presId="urn:microsoft.com/office/officeart/2008/layout/LinedList"/>
    <dgm:cxn modelId="{D6B5E405-1505-054C-8913-624661FDD002}" type="presParOf" srcId="{8344E780-1F5F-D246-9FC9-2F39ADD0B40A}" destId="{F9171AB1-A199-424B-AB83-BE36BF98165E}" srcOrd="2" destOrd="0" presId="urn:microsoft.com/office/officeart/2008/layout/LinedList"/>
    <dgm:cxn modelId="{9356C739-B77D-5B48-A1B6-A7B982753A9E}" type="presParOf" srcId="{8344E780-1F5F-D246-9FC9-2F39ADD0B40A}" destId="{D9D54253-69EC-2F41-A211-75656627082B}" srcOrd="3" destOrd="0" presId="urn:microsoft.com/office/officeart/2008/layout/LinedList"/>
    <dgm:cxn modelId="{8087BFB0-F285-9745-AF9B-32EADEF02028}" type="presParOf" srcId="{D9D54253-69EC-2F41-A211-75656627082B}" destId="{851FE92D-F340-9A47-9B8B-4B807F7A9B39}" srcOrd="0" destOrd="0" presId="urn:microsoft.com/office/officeart/2008/layout/LinedList"/>
    <dgm:cxn modelId="{B2F6E3D0-E129-7E41-88AC-4EC6680E0168}" type="presParOf" srcId="{D9D54253-69EC-2F41-A211-75656627082B}" destId="{426D3573-B006-AE44-8B51-F0CEE9E0F858}" srcOrd="1" destOrd="0" presId="urn:microsoft.com/office/officeart/2008/layout/LinedList"/>
    <dgm:cxn modelId="{5E6DFD51-2A79-0744-A995-CED8DA1B1CC7}" type="presParOf" srcId="{8344E780-1F5F-D246-9FC9-2F39ADD0B40A}" destId="{045165A8-7774-7142-A6D0-7D873B6D6D8A}" srcOrd="4" destOrd="0" presId="urn:microsoft.com/office/officeart/2008/layout/LinedList"/>
    <dgm:cxn modelId="{E93B4FC0-9C2D-DD4E-A8A5-BD626E05BEC3}" type="presParOf" srcId="{8344E780-1F5F-D246-9FC9-2F39ADD0B40A}" destId="{180EFDFB-4185-664D-B8D2-940EA59F19D7}" srcOrd="5" destOrd="0" presId="urn:microsoft.com/office/officeart/2008/layout/LinedList"/>
    <dgm:cxn modelId="{25FEB94F-8A8A-3640-862F-386EB5C7D41C}" type="presParOf" srcId="{180EFDFB-4185-664D-B8D2-940EA59F19D7}" destId="{C9041848-D9AA-CA4E-BFFA-5976AD1B7EC9}" srcOrd="0" destOrd="0" presId="urn:microsoft.com/office/officeart/2008/layout/LinedList"/>
    <dgm:cxn modelId="{4A357652-00E8-7F44-96ED-6129AB884F9A}" type="presParOf" srcId="{180EFDFB-4185-664D-B8D2-940EA59F19D7}" destId="{F047CF5A-8E4D-2843-A068-26CEFAB652AD}" srcOrd="1" destOrd="0" presId="urn:microsoft.com/office/officeart/2008/layout/LinedList"/>
    <dgm:cxn modelId="{414B502A-FFA4-2043-9804-AEFE1EC33083}" type="presParOf" srcId="{8344E780-1F5F-D246-9FC9-2F39ADD0B40A}" destId="{4E18152D-C68F-CA41-B1AF-2224958FEC99}" srcOrd="6" destOrd="0" presId="urn:microsoft.com/office/officeart/2008/layout/LinedList"/>
    <dgm:cxn modelId="{F4CCBF67-4F0C-4E43-84A9-26002EC333C6}" type="presParOf" srcId="{8344E780-1F5F-D246-9FC9-2F39ADD0B40A}" destId="{4CE8A001-CCB9-594F-8757-8888E2443AE3}" srcOrd="7" destOrd="0" presId="urn:microsoft.com/office/officeart/2008/layout/LinedList"/>
    <dgm:cxn modelId="{A1C5544C-2073-7A48-8A2D-E85988AF268B}" type="presParOf" srcId="{4CE8A001-CCB9-594F-8757-8888E2443AE3}" destId="{AA25C453-3E39-DB44-BF93-4299A9AECBB6}" srcOrd="0" destOrd="0" presId="urn:microsoft.com/office/officeart/2008/layout/LinedList"/>
    <dgm:cxn modelId="{9C81BF8F-4BA4-0643-83A7-C38918E1F3EB}" type="presParOf" srcId="{4CE8A001-CCB9-594F-8757-8888E2443AE3}" destId="{AA50A68F-BE03-9D42-8287-7CECB380AE02}" srcOrd="1" destOrd="0" presId="urn:microsoft.com/office/officeart/2008/layout/LinedList"/>
    <dgm:cxn modelId="{EFBBEBDA-5F43-B34F-B53A-632F043A762A}" type="presParOf" srcId="{8344E780-1F5F-D246-9FC9-2F39ADD0B40A}" destId="{3CB6711C-9DDC-4C40-9FCF-9FA31525A743}" srcOrd="8" destOrd="0" presId="urn:microsoft.com/office/officeart/2008/layout/LinedList"/>
    <dgm:cxn modelId="{09EDC3BB-66DF-F34A-AFDD-8C34B3037514}" type="presParOf" srcId="{8344E780-1F5F-D246-9FC9-2F39ADD0B40A}" destId="{C5135E2C-48C9-7C43-9D53-C3E0C9066926}" srcOrd="9" destOrd="0" presId="urn:microsoft.com/office/officeart/2008/layout/LinedList"/>
    <dgm:cxn modelId="{A10A758D-0354-D04A-AA67-959222252C1E}" type="presParOf" srcId="{C5135E2C-48C9-7C43-9D53-C3E0C9066926}" destId="{297BA0E3-70FF-1844-9DF0-140AAFE99862}" srcOrd="0" destOrd="0" presId="urn:microsoft.com/office/officeart/2008/layout/LinedList"/>
    <dgm:cxn modelId="{FB836205-2351-B346-AC84-53623E5D7A56}" type="presParOf" srcId="{C5135E2C-48C9-7C43-9D53-C3E0C9066926}" destId="{5AA2423C-D1B2-584E-82CD-E35155E84460}" srcOrd="1" destOrd="0" presId="urn:microsoft.com/office/officeart/2008/layout/LinedList"/>
    <dgm:cxn modelId="{718C058B-500A-BE4A-AAC2-025CEC596F6E}" type="presParOf" srcId="{8344E780-1F5F-D246-9FC9-2F39ADD0B40A}" destId="{09A3F533-DFEB-4143-9B1E-B38305C94894}" srcOrd="10" destOrd="0" presId="urn:microsoft.com/office/officeart/2008/layout/LinedList"/>
    <dgm:cxn modelId="{A8AD3E86-483E-664F-B8B6-D96E061279EE}" type="presParOf" srcId="{8344E780-1F5F-D246-9FC9-2F39ADD0B40A}" destId="{3A79971E-0FDD-384C-B3E9-17739F74F86D}" srcOrd="11" destOrd="0" presId="urn:microsoft.com/office/officeart/2008/layout/LinedList"/>
    <dgm:cxn modelId="{1E39925F-691B-2C46-B0FF-C1302F50425A}" type="presParOf" srcId="{3A79971E-0FDD-384C-B3E9-17739F74F86D}" destId="{8DB32A28-5437-9949-8812-866EEAFBA6F5}" srcOrd="0" destOrd="0" presId="urn:microsoft.com/office/officeart/2008/layout/LinedList"/>
    <dgm:cxn modelId="{232A0B7F-93DA-7C4F-A203-473C6CC049B0}" type="presParOf" srcId="{3A79971E-0FDD-384C-B3E9-17739F74F86D}" destId="{24C4F6AC-D8AD-C344-B6C3-84631151B6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9BEC4E-33B6-4BD8-8811-B232F67B0A6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C9351C7-34A7-492B-8751-1C3E80BD8938}">
      <dgm:prSet/>
      <dgm:spPr/>
      <dgm:t>
        <a:bodyPr/>
        <a:lstStyle/>
        <a:p>
          <a:r>
            <a:rPr lang="en-US"/>
            <a:t>Where are rents heading next?</a:t>
          </a:r>
        </a:p>
      </dgm:t>
    </dgm:pt>
    <dgm:pt modelId="{E9BBF1D9-125A-4D09-9226-51740BA14A36}" type="parTrans" cxnId="{6F269CC0-0CAF-4B52-B699-C15DD865BF54}">
      <dgm:prSet/>
      <dgm:spPr/>
      <dgm:t>
        <a:bodyPr/>
        <a:lstStyle/>
        <a:p>
          <a:endParaRPr lang="en-US"/>
        </a:p>
      </dgm:t>
    </dgm:pt>
    <dgm:pt modelId="{48630D3E-9BB7-45BA-B2D7-96D1450E0B75}" type="sibTrans" cxnId="{6F269CC0-0CAF-4B52-B699-C15DD865BF54}">
      <dgm:prSet/>
      <dgm:spPr/>
      <dgm:t>
        <a:bodyPr/>
        <a:lstStyle/>
        <a:p>
          <a:endParaRPr lang="en-US"/>
        </a:p>
      </dgm:t>
    </dgm:pt>
    <dgm:pt modelId="{4798F754-9263-473D-9151-1CB222495581}">
      <dgm:prSet/>
      <dgm:spPr/>
      <dgm:t>
        <a:bodyPr/>
        <a:lstStyle/>
        <a:p>
          <a:r>
            <a:rPr lang="en-US" dirty="0"/>
            <a:t>The pain – Investors rely on lagging reports that arrive months after the market has already changed</a:t>
          </a:r>
        </a:p>
      </dgm:t>
    </dgm:pt>
    <dgm:pt modelId="{13B11B73-0C98-492A-B360-FDB5583183B8}" type="parTrans" cxnId="{1C7BEB52-6340-4EC4-96CA-8A572787DBEC}">
      <dgm:prSet/>
      <dgm:spPr/>
      <dgm:t>
        <a:bodyPr/>
        <a:lstStyle/>
        <a:p>
          <a:endParaRPr lang="en-US"/>
        </a:p>
      </dgm:t>
    </dgm:pt>
    <dgm:pt modelId="{B0AB5DF9-1574-4B8C-91C6-186E7CF8685F}" type="sibTrans" cxnId="{1C7BEB52-6340-4EC4-96CA-8A572787DBEC}">
      <dgm:prSet/>
      <dgm:spPr/>
      <dgm:t>
        <a:bodyPr/>
        <a:lstStyle/>
        <a:p>
          <a:endParaRPr lang="en-US"/>
        </a:p>
      </dgm:t>
    </dgm:pt>
    <dgm:pt modelId="{40FE4A49-8BDA-46AA-BD80-59D9431C4EED}">
      <dgm:prSet/>
      <dgm:spPr/>
      <dgm:t>
        <a:bodyPr/>
        <a:lstStyle/>
        <a:p>
          <a:r>
            <a:rPr lang="en-US"/>
            <a:t>The gap – No tool exists that uses real econocmice sugnals to forecast rent growth before it happens</a:t>
          </a:r>
        </a:p>
      </dgm:t>
    </dgm:pt>
    <dgm:pt modelId="{1BB0A09C-5D43-48FB-B1FD-FDE5C153E3E0}" type="parTrans" cxnId="{EB4811BB-D1C8-4EEE-A21A-3A8E95E3590E}">
      <dgm:prSet/>
      <dgm:spPr/>
      <dgm:t>
        <a:bodyPr/>
        <a:lstStyle/>
        <a:p>
          <a:endParaRPr lang="en-US"/>
        </a:p>
      </dgm:t>
    </dgm:pt>
    <dgm:pt modelId="{F12C03BF-7236-438C-ACF6-2D96AC0CCE9B}" type="sibTrans" cxnId="{EB4811BB-D1C8-4EEE-A21A-3A8E95E3590E}">
      <dgm:prSet/>
      <dgm:spPr/>
      <dgm:t>
        <a:bodyPr/>
        <a:lstStyle/>
        <a:p>
          <a:endParaRPr lang="en-US"/>
        </a:p>
      </dgm:t>
    </dgm:pt>
    <dgm:pt modelId="{FE033A90-AAC0-46FC-9A30-3C522B52FFC5}">
      <dgm:prSet/>
      <dgm:spPr/>
      <dgm:t>
        <a:bodyPr/>
        <a:lstStyle/>
        <a:p>
          <a:r>
            <a:rPr lang="en-US"/>
            <a:t>The goal – build a regression model that predicts year over year rent growth using leading economic indicatiors</a:t>
          </a:r>
        </a:p>
      </dgm:t>
    </dgm:pt>
    <dgm:pt modelId="{8CD15A6D-A28C-4FD1-8468-267CD1AC4D23}" type="parTrans" cxnId="{C46394C3-91D6-4F33-98C8-1F5D4960BDE0}">
      <dgm:prSet/>
      <dgm:spPr/>
      <dgm:t>
        <a:bodyPr/>
        <a:lstStyle/>
        <a:p>
          <a:endParaRPr lang="en-US"/>
        </a:p>
      </dgm:t>
    </dgm:pt>
    <dgm:pt modelId="{AB22F8DD-B6EE-40F8-8F2C-55594168DF49}" type="sibTrans" cxnId="{C46394C3-91D6-4F33-98C8-1F5D4960BDE0}">
      <dgm:prSet/>
      <dgm:spPr/>
      <dgm:t>
        <a:bodyPr/>
        <a:lstStyle/>
        <a:p>
          <a:endParaRPr lang="en-US"/>
        </a:p>
      </dgm:t>
    </dgm:pt>
    <dgm:pt modelId="{5D3B8EC6-8141-49DA-88E8-D83BAE1F1303}" type="pres">
      <dgm:prSet presAssocID="{799BEC4E-33B6-4BD8-8811-B232F67B0A69}" presName="root" presStyleCnt="0">
        <dgm:presLayoutVars>
          <dgm:dir/>
          <dgm:resizeHandles val="exact"/>
        </dgm:presLayoutVars>
      </dgm:prSet>
      <dgm:spPr/>
    </dgm:pt>
    <dgm:pt modelId="{5F28FB98-1A3B-4138-9D31-F3AC697889FF}" type="pres">
      <dgm:prSet presAssocID="{3C9351C7-34A7-492B-8751-1C3E80BD8938}" presName="compNode" presStyleCnt="0"/>
      <dgm:spPr/>
    </dgm:pt>
    <dgm:pt modelId="{BDD7A9BD-A89B-454A-A3C8-BC6707C5BB6A}" type="pres">
      <dgm:prSet presAssocID="{3C9351C7-34A7-492B-8751-1C3E80BD8938}" presName="bgRect" presStyleLbl="bgShp" presStyleIdx="0" presStyleCnt="4"/>
      <dgm:spPr/>
    </dgm:pt>
    <dgm:pt modelId="{47D8A9C0-BB36-40E2-AE53-DE0B4EBE74E8}" type="pres">
      <dgm:prSet presAssocID="{3C9351C7-34A7-492B-8751-1C3E80BD89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5B8C5E3B-AB29-40B7-ABD7-9700EF2A6793}" type="pres">
      <dgm:prSet presAssocID="{3C9351C7-34A7-492B-8751-1C3E80BD8938}" presName="spaceRect" presStyleCnt="0"/>
      <dgm:spPr/>
    </dgm:pt>
    <dgm:pt modelId="{C23FC738-A91F-42B7-98F7-758FF925311E}" type="pres">
      <dgm:prSet presAssocID="{3C9351C7-34A7-492B-8751-1C3E80BD8938}" presName="parTx" presStyleLbl="revTx" presStyleIdx="0" presStyleCnt="4">
        <dgm:presLayoutVars>
          <dgm:chMax val="0"/>
          <dgm:chPref val="0"/>
        </dgm:presLayoutVars>
      </dgm:prSet>
      <dgm:spPr/>
    </dgm:pt>
    <dgm:pt modelId="{7DD612A4-6FE5-48A2-90F2-E4979ACAED32}" type="pres">
      <dgm:prSet presAssocID="{48630D3E-9BB7-45BA-B2D7-96D1450E0B75}" presName="sibTrans" presStyleCnt="0"/>
      <dgm:spPr/>
    </dgm:pt>
    <dgm:pt modelId="{B9944E19-E204-4C53-88CE-67DD488F2AAF}" type="pres">
      <dgm:prSet presAssocID="{4798F754-9263-473D-9151-1CB222495581}" presName="compNode" presStyleCnt="0"/>
      <dgm:spPr/>
    </dgm:pt>
    <dgm:pt modelId="{8A516728-0415-42C9-B13A-FA9F152D6C40}" type="pres">
      <dgm:prSet presAssocID="{4798F754-9263-473D-9151-1CB222495581}" presName="bgRect" presStyleLbl="bgShp" presStyleIdx="1" presStyleCnt="4"/>
      <dgm:spPr/>
    </dgm:pt>
    <dgm:pt modelId="{328CD245-6857-4EE4-9F2E-B6F123C46089}" type="pres">
      <dgm:prSet presAssocID="{4798F754-9263-473D-9151-1CB22249558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A0891D93-9263-4A59-9E34-A6B9EDE9D5F3}" type="pres">
      <dgm:prSet presAssocID="{4798F754-9263-473D-9151-1CB222495581}" presName="spaceRect" presStyleCnt="0"/>
      <dgm:spPr/>
    </dgm:pt>
    <dgm:pt modelId="{BF3E51D9-1A15-4923-BA3D-F7B4CC8B32FA}" type="pres">
      <dgm:prSet presAssocID="{4798F754-9263-473D-9151-1CB222495581}" presName="parTx" presStyleLbl="revTx" presStyleIdx="1" presStyleCnt="4">
        <dgm:presLayoutVars>
          <dgm:chMax val="0"/>
          <dgm:chPref val="0"/>
        </dgm:presLayoutVars>
      </dgm:prSet>
      <dgm:spPr/>
    </dgm:pt>
    <dgm:pt modelId="{89B232A2-640B-4A91-8832-2AF653749DE0}" type="pres">
      <dgm:prSet presAssocID="{B0AB5DF9-1574-4B8C-91C6-186E7CF8685F}" presName="sibTrans" presStyleCnt="0"/>
      <dgm:spPr/>
    </dgm:pt>
    <dgm:pt modelId="{1034E7A0-8C76-460D-AD8C-814E8FF47B64}" type="pres">
      <dgm:prSet presAssocID="{40FE4A49-8BDA-46AA-BD80-59D9431C4EED}" presName="compNode" presStyleCnt="0"/>
      <dgm:spPr/>
    </dgm:pt>
    <dgm:pt modelId="{545D0831-9BD6-44B3-A09D-FDAE860C56CA}" type="pres">
      <dgm:prSet presAssocID="{40FE4A49-8BDA-46AA-BD80-59D9431C4EED}" presName="bgRect" presStyleLbl="bgShp" presStyleIdx="2" presStyleCnt="4"/>
      <dgm:spPr/>
    </dgm:pt>
    <dgm:pt modelId="{B212A085-F2A4-4A31-9E93-44D6B0EEF958}" type="pres">
      <dgm:prSet presAssocID="{40FE4A49-8BDA-46AA-BD80-59D9431C4E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7140410-A577-473B-B05D-BA89A8C815A8}" type="pres">
      <dgm:prSet presAssocID="{40FE4A49-8BDA-46AA-BD80-59D9431C4EED}" presName="spaceRect" presStyleCnt="0"/>
      <dgm:spPr/>
    </dgm:pt>
    <dgm:pt modelId="{05577D6F-09D4-48F5-B627-DF48F52BBD4C}" type="pres">
      <dgm:prSet presAssocID="{40FE4A49-8BDA-46AA-BD80-59D9431C4EED}" presName="parTx" presStyleLbl="revTx" presStyleIdx="2" presStyleCnt="4">
        <dgm:presLayoutVars>
          <dgm:chMax val="0"/>
          <dgm:chPref val="0"/>
        </dgm:presLayoutVars>
      </dgm:prSet>
      <dgm:spPr/>
    </dgm:pt>
    <dgm:pt modelId="{D556E53A-4E27-4AEB-8B7F-D7EBBBECADF9}" type="pres">
      <dgm:prSet presAssocID="{F12C03BF-7236-438C-ACF6-2D96AC0CCE9B}" presName="sibTrans" presStyleCnt="0"/>
      <dgm:spPr/>
    </dgm:pt>
    <dgm:pt modelId="{4CE94C90-9CE9-48FC-9BE7-41BC92A92253}" type="pres">
      <dgm:prSet presAssocID="{FE033A90-AAC0-46FC-9A30-3C522B52FFC5}" presName="compNode" presStyleCnt="0"/>
      <dgm:spPr/>
    </dgm:pt>
    <dgm:pt modelId="{D5EC0E48-F4F3-4363-9885-E302C6DB209D}" type="pres">
      <dgm:prSet presAssocID="{FE033A90-AAC0-46FC-9A30-3C522B52FFC5}" presName="bgRect" presStyleLbl="bgShp" presStyleIdx="3" presStyleCnt="4"/>
      <dgm:spPr/>
    </dgm:pt>
    <dgm:pt modelId="{BB0ED4EC-090E-46E8-83DD-1E5737C3E039}" type="pres">
      <dgm:prSet presAssocID="{FE033A90-AAC0-46FC-9A30-3C522B52FF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893715FC-7186-4681-A321-8BED54443C94}" type="pres">
      <dgm:prSet presAssocID="{FE033A90-AAC0-46FC-9A30-3C522B52FFC5}" presName="spaceRect" presStyleCnt="0"/>
      <dgm:spPr/>
    </dgm:pt>
    <dgm:pt modelId="{2826C7DC-27F5-4593-AD89-D605CB8A0CF3}" type="pres">
      <dgm:prSet presAssocID="{FE033A90-AAC0-46FC-9A30-3C522B52FF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B304E0E-61C2-40EF-8592-D9D2BAD801C6}" type="presOf" srcId="{3C9351C7-34A7-492B-8751-1C3E80BD8938}" destId="{C23FC738-A91F-42B7-98F7-758FF925311E}" srcOrd="0" destOrd="0" presId="urn:microsoft.com/office/officeart/2018/2/layout/IconVerticalSolidList"/>
    <dgm:cxn modelId="{1C7BEB52-6340-4EC4-96CA-8A572787DBEC}" srcId="{799BEC4E-33B6-4BD8-8811-B232F67B0A69}" destId="{4798F754-9263-473D-9151-1CB222495581}" srcOrd="1" destOrd="0" parTransId="{13B11B73-0C98-492A-B360-FDB5583183B8}" sibTransId="{B0AB5DF9-1574-4B8C-91C6-186E7CF8685F}"/>
    <dgm:cxn modelId="{E385BF74-F670-4D62-AE3A-E86BB4CD48B3}" type="presOf" srcId="{40FE4A49-8BDA-46AA-BD80-59D9431C4EED}" destId="{05577D6F-09D4-48F5-B627-DF48F52BBD4C}" srcOrd="0" destOrd="0" presId="urn:microsoft.com/office/officeart/2018/2/layout/IconVerticalSolidList"/>
    <dgm:cxn modelId="{5DBA9F81-0BBC-4E31-8AF7-788012196189}" type="presOf" srcId="{4798F754-9263-473D-9151-1CB222495581}" destId="{BF3E51D9-1A15-4923-BA3D-F7B4CC8B32FA}" srcOrd="0" destOrd="0" presId="urn:microsoft.com/office/officeart/2018/2/layout/IconVerticalSolidList"/>
    <dgm:cxn modelId="{C110A081-8740-4A77-B50B-4B2511AE17C7}" type="presOf" srcId="{FE033A90-AAC0-46FC-9A30-3C522B52FFC5}" destId="{2826C7DC-27F5-4593-AD89-D605CB8A0CF3}" srcOrd="0" destOrd="0" presId="urn:microsoft.com/office/officeart/2018/2/layout/IconVerticalSolidList"/>
    <dgm:cxn modelId="{CB0F4FA1-F502-45D3-A07B-04FF67479533}" type="presOf" srcId="{799BEC4E-33B6-4BD8-8811-B232F67B0A69}" destId="{5D3B8EC6-8141-49DA-88E8-D83BAE1F1303}" srcOrd="0" destOrd="0" presId="urn:microsoft.com/office/officeart/2018/2/layout/IconVerticalSolidList"/>
    <dgm:cxn modelId="{EB4811BB-D1C8-4EEE-A21A-3A8E95E3590E}" srcId="{799BEC4E-33B6-4BD8-8811-B232F67B0A69}" destId="{40FE4A49-8BDA-46AA-BD80-59D9431C4EED}" srcOrd="2" destOrd="0" parTransId="{1BB0A09C-5D43-48FB-B1FD-FDE5C153E3E0}" sibTransId="{F12C03BF-7236-438C-ACF6-2D96AC0CCE9B}"/>
    <dgm:cxn modelId="{6F269CC0-0CAF-4B52-B699-C15DD865BF54}" srcId="{799BEC4E-33B6-4BD8-8811-B232F67B0A69}" destId="{3C9351C7-34A7-492B-8751-1C3E80BD8938}" srcOrd="0" destOrd="0" parTransId="{E9BBF1D9-125A-4D09-9226-51740BA14A36}" sibTransId="{48630D3E-9BB7-45BA-B2D7-96D1450E0B75}"/>
    <dgm:cxn modelId="{C46394C3-91D6-4F33-98C8-1F5D4960BDE0}" srcId="{799BEC4E-33B6-4BD8-8811-B232F67B0A69}" destId="{FE033A90-AAC0-46FC-9A30-3C522B52FFC5}" srcOrd="3" destOrd="0" parTransId="{8CD15A6D-A28C-4FD1-8468-267CD1AC4D23}" sibTransId="{AB22F8DD-B6EE-40F8-8F2C-55594168DF49}"/>
    <dgm:cxn modelId="{22360E2A-D994-4B29-855E-DD94126BC4D6}" type="presParOf" srcId="{5D3B8EC6-8141-49DA-88E8-D83BAE1F1303}" destId="{5F28FB98-1A3B-4138-9D31-F3AC697889FF}" srcOrd="0" destOrd="0" presId="urn:microsoft.com/office/officeart/2018/2/layout/IconVerticalSolidList"/>
    <dgm:cxn modelId="{E9D837A8-5CCB-483E-A530-3793BCC53BBD}" type="presParOf" srcId="{5F28FB98-1A3B-4138-9D31-F3AC697889FF}" destId="{BDD7A9BD-A89B-454A-A3C8-BC6707C5BB6A}" srcOrd="0" destOrd="0" presId="urn:microsoft.com/office/officeart/2018/2/layout/IconVerticalSolidList"/>
    <dgm:cxn modelId="{843888D7-2BEA-4B08-884D-A0B052D2AD9B}" type="presParOf" srcId="{5F28FB98-1A3B-4138-9D31-F3AC697889FF}" destId="{47D8A9C0-BB36-40E2-AE53-DE0B4EBE74E8}" srcOrd="1" destOrd="0" presId="urn:microsoft.com/office/officeart/2018/2/layout/IconVerticalSolidList"/>
    <dgm:cxn modelId="{39ED6B54-C8F4-460E-A66F-9674A65C78BA}" type="presParOf" srcId="{5F28FB98-1A3B-4138-9D31-F3AC697889FF}" destId="{5B8C5E3B-AB29-40B7-ABD7-9700EF2A6793}" srcOrd="2" destOrd="0" presId="urn:microsoft.com/office/officeart/2018/2/layout/IconVerticalSolidList"/>
    <dgm:cxn modelId="{820C170A-CEE5-47B0-8690-92286D9C634B}" type="presParOf" srcId="{5F28FB98-1A3B-4138-9D31-F3AC697889FF}" destId="{C23FC738-A91F-42B7-98F7-758FF925311E}" srcOrd="3" destOrd="0" presId="urn:microsoft.com/office/officeart/2018/2/layout/IconVerticalSolidList"/>
    <dgm:cxn modelId="{C4817B3D-0898-48DE-B4BD-94A5DC757363}" type="presParOf" srcId="{5D3B8EC6-8141-49DA-88E8-D83BAE1F1303}" destId="{7DD612A4-6FE5-48A2-90F2-E4979ACAED32}" srcOrd="1" destOrd="0" presId="urn:microsoft.com/office/officeart/2018/2/layout/IconVerticalSolidList"/>
    <dgm:cxn modelId="{ADDFBB1D-7E16-40B7-92FB-561EFC0DC24B}" type="presParOf" srcId="{5D3B8EC6-8141-49DA-88E8-D83BAE1F1303}" destId="{B9944E19-E204-4C53-88CE-67DD488F2AAF}" srcOrd="2" destOrd="0" presId="urn:microsoft.com/office/officeart/2018/2/layout/IconVerticalSolidList"/>
    <dgm:cxn modelId="{5A928899-630F-42F1-B487-4CD6B68E6B6E}" type="presParOf" srcId="{B9944E19-E204-4C53-88CE-67DD488F2AAF}" destId="{8A516728-0415-42C9-B13A-FA9F152D6C40}" srcOrd="0" destOrd="0" presId="urn:microsoft.com/office/officeart/2018/2/layout/IconVerticalSolidList"/>
    <dgm:cxn modelId="{88F910C0-73DE-4932-8C68-EA940378047D}" type="presParOf" srcId="{B9944E19-E204-4C53-88CE-67DD488F2AAF}" destId="{328CD245-6857-4EE4-9F2E-B6F123C46089}" srcOrd="1" destOrd="0" presId="urn:microsoft.com/office/officeart/2018/2/layout/IconVerticalSolidList"/>
    <dgm:cxn modelId="{6123C903-488C-4170-8D9A-547224F2FBB6}" type="presParOf" srcId="{B9944E19-E204-4C53-88CE-67DD488F2AAF}" destId="{A0891D93-9263-4A59-9E34-A6B9EDE9D5F3}" srcOrd="2" destOrd="0" presId="urn:microsoft.com/office/officeart/2018/2/layout/IconVerticalSolidList"/>
    <dgm:cxn modelId="{4A7DAD0D-C1E0-4428-B410-4ED0282E11C0}" type="presParOf" srcId="{B9944E19-E204-4C53-88CE-67DD488F2AAF}" destId="{BF3E51D9-1A15-4923-BA3D-F7B4CC8B32FA}" srcOrd="3" destOrd="0" presId="urn:microsoft.com/office/officeart/2018/2/layout/IconVerticalSolidList"/>
    <dgm:cxn modelId="{820E93E0-3C30-4D63-AD4B-324D35BFA4D6}" type="presParOf" srcId="{5D3B8EC6-8141-49DA-88E8-D83BAE1F1303}" destId="{89B232A2-640B-4A91-8832-2AF653749DE0}" srcOrd="3" destOrd="0" presId="urn:microsoft.com/office/officeart/2018/2/layout/IconVerticalSolidList"/>
    <dgm:cxn modelId="{76393A12-BBFC-4E29-879A-26D7912B394B}" type="presParOf" srcId="{5D3B8EC6-8141-49DA-88E8-D83BAE1F1303}" destId="{1034E7A0-8C76-460D-AD8C-814E8FF47B64}" srcOrd="4" destOrd="0" presId="urn:microsoft.com/office/officeart/2018/2/layout/IconVerticalSolidList"/>
    <dgm:cxn modelId="{00F0ED94-CABD-4FAF-A84C-CD9E4070FB31}" type="presParOf" srcId="{1034E7A0-8C76-460D-AD8C-814E8FF47B64}" destId="{545D0831-9BD6-44B3-A09D-FDAE860C56CA}" srcOrd="0" destOrd="0" presId="urn:microsoft.com/office/officeart/2018/2/layout/IconVerticalSolidList"/>
    <dgm:cxn modelId="{04303217-BD87-4992-BF12-82BEF18893A1}" type="presParOf" srcId="{1034E7A0-8C76-460D-AD8C-814E8FF47B64}" destId="{B212A085-F2A4-4A31-9E93-44D6B0EEF958}" srcOrd="1" destOrd="0" presId="urn:microsoft.com/office/officeart/2018/2/layout/IconVerticalSolidList"/>
    <dgm:cxn modelId="{5FAF3A98-1322-4EDB-A3F2-E1BA44DDF439}" type="presParOf" srcId="{1034E7A0-8C76-460D-AD8C-814E8FF47B64}" destId="{67140410-A577-473B-B05D-BA89A8C815A8}" srcOrd="2" destOrd="0" presId="urn:microsoft.com/office/officeart/2018/2/layout/IconVerticalSolidList"/>
    <dgm:cxn modelId="{7C80D3B7-5C5A-4FEE-A48E-4894B7BFFC57}" type="presParOf" srcId="{1034E7A0-8C76-460D-AD8C-814E8FF47B64}" destId="{05577D6F-09D4-48F5-B627-DF48F52BBD4C}" srcOrd="3" destOrd="0" presId="urn:microsoft.com/office/officeart/2018/2/layout/IconVerticalSolidList"/>
    <dgm:cxn modelId="{BD2203EC-412D-4023-BBFF-D68B8B8D9036}" type="presParOf" srcId="{5D3B8EC6-8141-49DA-88E8-D83BAE1F1303}" destId="{D556E53A-4E27-4AEB-8B7F-D7EBBBECADF9}" srcOrd="5" destOrd="0" presId="urn:microsoft.com/office/officeart/2018/2/layout/IconVerticalSolidList"/>
    <dgm:cxn modelId="{1B2E3E55-0E02-46E9-9240-864F338967A2}" type="presParOf" srcId="{5D3B8EC6-8141-49DA-88E8-D83BAE1F1303}" destId="{4CE94C90-9CE9-48FC-9BE7-41BC92A92253}" srcOrd="6" destOrd="0" presId="urn:microsoft.com/office/officeart/2018/2/layout/IconVerticalSolidList"/>
    <dgm:cxn modelId="{12102DBD-0DC7-4E10-9D14-4F3078C7D70B}" type="presParOf" srcId="{4CE94C90-9CE9-48FC-9BE7-41BC92A92253}" destId="{D5EC0E48-F4F3-4363-9885-E302C6DB209D}" srcOrd="0" destOrd="0" presId="urn:microsoft.com/office/officeart/2018/2/layout/IconVerticalSolidList"/>
    <dgm:cxn modelId="{F764B178-C3D6-4C1D-8FD8-09BE342D2426}" type="presParOf" srcId="{4CE94C90-9CE9-48FC-9BE7-41BC92A92253}" destId="{BB0ED4EC-090E-46E8-83DD-1E5737C3E039}" srcOrd="1" destOrd="0" presId="urn:microsoft.com/office/officeart/2018/2/layout/IconVerticalSolidList"/>
    <dgm:cxn modelId="{8D4EA216-8188-4618-8ADD-D19E2D1AC3B2}" type="presParOf" srcId="{4CE94C90-9CE9-48FC-9BE7-41BC92A92253}" destId="{893715FC-7186-4681-A321-8BED54443C94}" srcOrd="2" destOrd="0" presId="urn:microsoft.com/office/officeart/2018/2/layout/IconVerticalSolidList"/>
    <dgm:cxn modelId="{7CDADC65-A78E-40E5-AF47-D7CC1176977F}" type="presParOf" srcId="{4CE94C90-9CE9-48FC-9BE7-41BC92A92253}" destId="{2826C7DC-27F5-4593-AD89-D605CB8A0C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1F70CB-3F47-429E-A6A4-71BE1D65A2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DDE057B-1A35-4191-B45A-31E78311649A}">
      <dgm:prSet/>
      <dgm:spPr/>
      <dgm:t>
        <a:bodyPr/>
        <a:lstStyle/>
        <a:p>
          <a:r>
            <a:rPr lang="en-US" dirty="0"/>
            <a:t>The rental market went through a dramatic boom and bust cycle from 2020 to 2025.</a:t>
          </a:r>
        </a:p>
      </dgm:t>
    </dgm:pt>
    <dgm:pt modelId="{0F126654-6309-4A12-928A-A31BECAF92E5}" type="parTrans" cxnId="{0D1A2962-7520-4567-AFA1-950763F16B0B}">
      <dgm:prSet/>
      <dgm:spPr/>
      <dgm:t>
        <a:bodyPr/>
        <a:lstStyle/>
        <a:p>
          <a:endParaRPr lang="en-US"/>
        </a:p>
      </dgm:t>
    </dgm:pt>
    <dgm:pt modelId="{52BE372D-2B19-474A-8790-C0F81158D034}" type="sibTrans" cxnId="{0D1A2962-7520-4567-AFA1-950763F16B0B}">
      <dgm:prSet/>
      <dgm:spPr/>
      <dgm:t>
        <a:bodyPr/>
        <a:lstStyle/>
        <a:p>
          <a:endParaRPr lang="en-US"/>
        </a:p>
      </dgm:t>
    </dgm:pt>
    <dgm:pt modelId="{42710D8E-5617-4B89-88A3-3CB6C69BB3EA}">
      <dgm:prSet/>
      <dgm:spPr/>
      <dgm:t>
        <a:bodyPr/>
        <a:lstStyle/>
        <a:p>
          <a:r>
            <a:rPr lang="en-US"/>
            <a:t>Low vacancy in 2021 to 2022 gave landlords pricing power causing the rent spike.</a:t>
          </a:r>
        </a:p>
      </dgm:t>
    </dgm:pt>
    <dgm:pt modelId="{6B9B3DD5-1CA5-4FC2-93BF-01DCD860CF34}" type="parTrans" cxnId="{FF53F57A-015C-45DE-AB2F-9041A776961B}">
      <dgm:prSet/>
      <dgm:spPr/>
      <dgm:t>
        <a:bodyPr/>
        <a:lstStyle/>
        <a:p>
          <a:endParaRPr lang="en-US"/>
        </a:p>
      </dgm:t>
    </dgm:pt>
    <dgm:pt modelId="{3E655943-F6F2-49CF-A183-7D17F32DF9E2}" type="sibTrans" cxnId="{FF53F57A-015C-45DE-AB2F-9041A776961B}">
      <dgm:prSet/>
      <dgm:spPr/>
      <dgm:t>
        <a:bodyPr/>
        <a:lstStyle/>
        <a:p>
          <a:endParaRPr lang="en-US"/>
        </a:p>
      </dgm:t>
    </dgm:pt>
    <dgm:pt modelId="{CF12D05E-88E4-4C3B-B834-A71CEBE5AA9B}">
      <dgm:prSet/>
      <dgm:spPr/>
      <dgm:t>
        <a:bodyPr/>
        <a:lstStyle/>
        <a:p>
          <a:r>
            <a:rPr lang="en-US"/>
            <a:t>Building permits surged to 1,900K in 2021. Those units hit the market in 2024 to 2025 causing oversupply.</a:t>
          </a:r>
        </a:p>
      </dgm:t>
    </dgm:pt>
    <dgm:pt modelId="{19C24E59-070C-441B-9D8E-69C16B78D6EF}" type="parTrans" cxnId="{3FA6680A-D948-4C67-B3C3-AC3E9C95D398}">
      <dgm:prSet/>
      <dgm:spPr/>
      <dgm:t>
        <a:bodyPr/>
        <a:lstStyle/>
        <a:p>
          <a:endParaRPr lang="en-US"/>
        </a:p>
      </dgm:t>
    </dgm:pt>
    <dgm:pt modelId="{FA229856-43BA-42C2-B604-CA6D4F4E0F1B}" type="sibTrans" cxnId="{3FA6680A-D948-4C67-B3C3-AC3E9C95D398}">
      <dgm:prSet/>
      <dgm:spPr/>
      <dgm:t>
        <a:bodyPr/>
        <a:lstStyle/>
        <a:p>
          <a:endParaRPr lang="en-US"/>
        </a:p>
      </dgm:t>
    </dgm:pt>
    <dgm:pt modelId="{B6225B17-B501-4D26-854F-6C889A863C1C}">
      <dgm:prSet/>
      <dgm:spPr/>
      <dgm:t>
        <a:bodyPr/>
        <a:lstStyle/>
        <a:p>
          <a:r>
            <a:rPr lang="en-US"/>
            <a:t>Class A peaked highest at 14.5% growth. Class C was the most stable with smaller swings.</a:t>
          </a:r>
        </a:p>
      </dgm:t>
    </dgm:pt>
    <dgm:pt modelId="{61A46F94-ACE3-494C-B8ED-A115AEF522A8}" type="parTrans" cxnId="{66C7D465-CF01-4574-9220-250414030663}">
      <dgm:prSet/>
      <dgm:spPr/>
      <dgm:t>
        <a:bodyPr/>
        <a:lstStyle/>
        <a:p>
          <a:endParaRPr lang="en-US"/>
        </a:p>
      </dgm:t>
    </dgm:pt>
    <dgm:pt modelId="{C539800F-BE0B-4266-996B-8CDBB5248FF9}" type="sibTrans" cxnId="{66C7D465-CF01-4574-9220-250414030663}">
      <dgm:prSet/>
      <dgm:spPr/>
      <dgm:t>
        <a:bodyPr/>
        <a:lstStyle/>
        <a:p>
          <a:endParaRPr lang="en-US"/>
        </a:p>
      </dgm:t>
    </dgm:pt>
    <dgm:pt modelId="{4218F08D-EF0C-4D05-AC01-F50E156062A5}">
      <dgm:prSet/>
      <dgm:spPr/>
      <dgm:t>
        <a:bodyPr/>
        <a:lstStyle/>
        <a:p>
          <a:r>
            <a:rPr lang="en-US"/>
            <a:t>All three property classes moved together with correlations above 0.95 for rent levels.</a:t>
          </a:r>
        </a:p>
      </dgm:t>
    </dgm:pt>
    <dgm:pt modelId="{9E724559-CE62-49D7-8834-BC60A150EDBD}" type="parTrans" cxnId="{E1E21BCA-F7FA-4E95-AB48-2DB875616002}">
      <dgm:prSet/>
      <dgm:spPr/>
      <dgm:t>
        <a:bodyPr/>
        <a:lstStyle/>
        <a:p>
          <a:endParaRPr lang="en-US"/>
        </a:p>
      </dgm:t>
    </dgm:pt>
    <dgm:pt modelId="{B393B537-D526-4E66-B7AE-4513AE00FEC4}" type="sibTrans" cxnId="{E1E21BCA-F7FA-4E95-AB48-2DB875616002}">
      <dgm:prSet/>
      <dgm:spPr/>
      <dgm:t>
        <a:bodyPr/>
        <a:lstStyle/>
        <a:p>
          <a:endParaRPr lang="en-US"/>
        </a:p>
      </dgm:t>
    </dgm:pt>
    <dgm:pt modelId="{91F18137-7EAB-4465-9B0F-B07A15470CF1}">
      <dgm:prSet/>
      <dgm:spPr/>
      <dgm:t>
        <a:bodyPr/>
        <a:lstStyle/>
        <a:p>
          <a:r>
            <a:rPr lang="en-US"/>
            <a:t>Building permits and vacancy rate were the strongest predictors of rent growth.</a:t>
          </a:r>
        </a:p>
      </dgm:t>
    </dgm:pt>
    <dgm:pt modelId="{E2FCACD6-50A9-41AB-958D-3D6F86D43426}" type="parTrans" cxnId="{70B62421-9501-4CDD-AA12-650A1BF2C446}">
      <dgm:prSet/>
      <dgm:spPr/>
      <dgm:t>
        <a:bodyPr/>
        <a:lstStyle/>
        <a:p>
          <a:endParaRPr lang="en-US"/>
        </a:p>
      </dgm:t>
    </dgm:pt>
    <dgm:pt modelId="{C8B2FE5F-E831-4F3D-806A-5992F56D5A68}" type="sibTrans" cxnId="{70B62421-9501-4CDD-AA12-650A1BF2C446}">
      <dgm:prSet/>
      <dgm:spPr/>
      <dgm:t>
        <a:bodyPr/>
        <a:lstStyle/>
        <a:p>
          <a:endParaRPr lang="en-US"/>
        </a:p>
      </dgm:t>
    </dgm:pt>
    <dgm:pt modelId="{F75379BE-96AC-F74B-A557-6F699284D84D}" type="pres">
      <dgm:prSet presAssocID="{D11F70CB-3F47-429E-A6A4-71BE1D65A255}" presName="diagram" presStyleCnt="0">
        <dgm:presLayoutVars>
          <dgm:dir/>
          <dgm:resizeHandles val="exact"/>
        </dgm:presLayoutVars>
      </dgm:prSet>
      <dgm:spPr/>
    </dgm:pt>
    <dgm:pt modelId="{8A939B82-82B7-CE4F-8208-952041D2ACDB}" type="pres">
      <dgm:prSet presAssocID="{DDDE057B-1A35-4191-B45A-31E78311649A}" presName="node" presStyleLbl="node1" presStyleIdx="0" presStyleCnt="6">
        <dgm:presLayoutVars>
          <dgm:bulletEnabled val="1"/>
        </dgm:presLayoutVars>
      </dgm:prSet>
      <dgm:spPr/>
    </dgm:pt>
    <dgm:pt modelId="{A205C3E2-1E5E-704D-96DA-D7C857858640}" type="pres">
      <dgm:prSet presAssocID="{52BE372D-2B19-474A-8790-C0F81158D034}" presName="sibTrans" presStyleCnt="0"/>
      <dgm:spPr/>
    </dgm:pt>
    <dgm:pt modelId="{BA18A528-811F-E14D-84CF-44F23E3848EC}" type="pres">
      <dgm:prSet presAssocID="{42710D8E-5617-4B89-88A3-3CB6C69BB3EA}" presName="node" presStyleLbl="node1" presStyleIdx="1" presStyleCnt="6">
        <dgm:presLayoutVars>
          <dgm:bulletEnabled val="1"/>
        </dgm:presLayoutVars>
      </dgm:prSet>
      <dgm:spPr/>
    </dgm:pt>
    <dgm:pt modelId="{9C973F68-823E-7A42-861F-436AE792B9D8}" type="pres">
      <dgm:prSet presAssocID="{3E655943-F6F2-49CF-A183-7D17F32DF9E2}" presName="sibTrans" presStyleCnt="0"/>
      <dgm:spPr/>
    </dgm:pt>
    <dgm:pt modelId="{9D4AFCD8-CE6B-1A47-91DD-E124DECC0ECE}" type="pres">
      <dgm:prSet presAssocID="{CF12D05E-88E4-4C3B-B834-A71CEBE5AA9B}" presName="node" presStyleLbl="node1" presStyleIdx="2" presStyleCnt="6">
        <dgm:presLayoutVars>
          <dgm:bulletEnabled val="1"/>
        </dgm:presLayoutVars>
      </dgm:prSet>
      <dgm:spPr/>
    </dgm:pt>
    <dgm:pt modelId="{6156037E-7D7D-9949-9710-5F979411CE23}" type="pres">
      <dgm:prSet presAssocID="{FA229856-43BA-42C2-B604-CA6D4F4E0F1B}" presName="sibTrans" presStyleCnt="0"/>
      <dgm:spPr/>
    </dgm:pt>
    <dgm:pt modelId="{AEEE7DD1-B772-D347-BE8F-AC9374ED6A6E}" type="pres">
      <dgm:prSet presAssocID="{B6225B17-B501-4D26-854F-6C889A863C1C}" presName="node" presStyleLbl="node1" presStyleIdx="3" presStyleCnt="6">
        <dgm:presLayoutVars>
          <dgm:bulletEnabled val="1"/>
        </dgm:presLayoutVars>
      </dgm:prSet>
      <dgm:spPr/>
    </dgm:pt>
    <dgm:pt modelId="{993BBFD7-8F0E-AB4A-BF6B-5C6902FD7BBC}" type="pres">
      <dgm:prSet presAssocID="{C539800F-BE0B-4266-996B-8CDBB5248FF9}" presName="sibTrans" presStyleCnt="0"/>
      <dgm:spPr/>
    </dgm:pt>
    <dgm:pt modelId="{E9A3F2A9-44B3-BE40-8986-FF6D5F1306B9}" type="pres">
      <dgm:prSet presAssocID="{4218F08D-EF0C-4D05-AC01-F50E156062A5}" presName="node" presStyleLbl="node1" presStyleIdx="4" presStyleCnt="6">
        <dgm:presLayoutVars>
          <dgm:bulletEnabled val="1"/>
        </dgm:presLayoutVars>
      </dgm:prSet>
      <dgm:spPr/>
    </dgm:pt>
    <dgm:pt modelId="{A1A464E3-3DF8-B444-9DEC-5F62029C86AF}" type="pres">
      <dgm:prSet presAssocID="{B393B537-D526-4E66-B7AE-4513AE00FEC4}" presName="sibTrans" presStyleCnt="0"/>
      <dgm:spPr/>
    </dgm:pt>
    <dgm:pt modelId="{CA56FEC5-4C8D-1645-A1EB-9D83E7AF6148}" type="pres">
      <dgm:prSet presAssocID="{91F18137-7EAB-4465-9B0F-B07A15470CF1}" presName="node" presStyleLbl="node1" presStyleIdx="5" presStyleCnt="6">
        <dgm:presLayoutVars>
          <dgm:bulletEnabled val="1"/>
        </dgm:presLayoutVars>
      </dgm:prSet>
      <dgm:spPr/>
    </dgm:pt>
  </dgm:ptLst>
  <dgm:cxnLst>
    <dgm:cxn modelId="{B9AF9801-8A51-C04F-ABC7-EF3927AB5244}" type="presOf" srcId="{DDDE057B-1A35-4191-B45A-31E78311649A}" destId="{8A939B82-82B7-CE4F-8208-952041D2ACDB}" srcOrd="0" destOrd="0" presId="urn:microsoft.com/office/officeart/2005/8/layout/default"/>
    <dgm:cxn modelId="{A4DFEB04-A303-FA47-81E0-9D946FEE9DA6}" type="presOf" srcId="{42710D8E-5617-4B89-88A3-3CB6C69BB3EA}" destId="{BA18A528-811F-E14D-84CF-44F23E3848EC}" srcOrd="0" destOrd="0" presId="urn:microsoft.com/office/officeart/2005/8/layout/default"/>
    <dgm:cxn modelId="{3FA6680A-D948-4C67-B3C3-AC3E9C95D398}" srcId="{D11F70CB-3F47-429E-A6A4-71BE1D65A255}" destId="{CF12D05E-88E4-4C3B-B834-A71CEBE5AA9B}" srcOrd="2" destOrd="0" parTransId="{19C24E59-070C-441B-9D8E-69C16B78D6EF}" sibTransId="{FA229856-43BA-42C2-B604-CA6D4F4E0F1B}"/>
    <dgm:cxn modelId="{70B62421-9501-4CDD-AA12-650A1BF2C446}" srcId="{D11F70CB-3F47-429E-A6A4-71BE1D65A255}" destId="{91F18137-7EAB-4465-9B0F-B07A15470CF1}" srcOrd="5" destOrd="0" parTransId="{E2FCACD6-50A9-41AB-958D-3D6F86D43426}" sibTransId="{C8B2FE5F-E831-4F3D-806A-5992F56D5A68}"/>
    <dgm:cxn modelId="{03F33035-68EC-2447-BEFE-5B8EEAEC4C73}" type="presOf" srcId="{CF12D05E-88E4-4C3B-B834-A71CEBE5AA9B}" destId="{9D4AFCD8-CE6B-1A47-91DD-E124DECC0ECE}" srcOrd="0" destOrd="0" presId="urn:microsoft.com/office/officeart/2005/8/layout/default"/>
    <dgm:cxn modelId="{09156336-5909-A94B-A3FD-57B63D5450A6}" type="presOf" srcId="{B6225B17-B501-4D26-854F-6C889A863C1C}" destId="{AEEE7DD1-B772-D347-BE8F-AC9374ED6A6E}" srcOrd="0" destOrd="0" presId="urn:microsoft.com/office/officeart/2005/8/layout/default"/>
    <dgm:cxn modelId="{0D1A2962-7520-4567-AFA1-950763F16B0B}" srcId="{D11F70CB-3F47-429E-A6A4-71BE1D65A255}" destId="{DDDE057B-1A35-4191-B45A-31E78311649A}" srcOrd="0" destOrd="0" parTransId="{0F126654-6309-4A12-928A-A31BECAF92E5}" sibTransId="{52BE372D-2B19-474A-8790-C0F81158D034}"/>
    <dgm:cxn modelId="{66C7D465-CF01-4574-9220-250414030663}" srcId="{D11F70CB-3F47-429E-A6A4-71BE1D65A255}" destId="{B6225B17-B501-4D26-854F-6C889A863C1C}" srcOrd="3" destOrd="0" parTransId="{61A46F94-ACE3-494C-B8ED-A115AEF522A8}" sibTransId="{C539800F-BE0B-4266-996B-8CDBB5248FF9}"/>
    <dgm:cxn modelId="{FF53F57A-015C-45DE-AB2F-9041A776961B}" srcId="{D11F70CB-3F47-429E-A6A4-71BE1D65A255}" destId="{42710D8E-5617-4B89-88A3-3CB6C69BB3EA}" srcOrd="1" destOrd="0" parTransId="{6B9B3DD5-1CA5-4FC2-93BF-01DCD860CF34}" sibTransId="{3E655943-F6F2-49CF-A183-7D17F32DF9E2}"/>
    <dgm:cxn modelId="{FABE0CC9-A0C6-1348-B9EA-A37E92EB70F8}" type="presOf" srcId="{91F18137-7EAB-4465-9B0F-B07A15470CF1}" destId="{CA56FEC5-4C8D-1645-A1EB-9D83E7AF6148}" srcOrd="0" destOrd="0" presId="urn:microsoft.com/office/officeart/2005/8/layout/default"/>
    <dgm:cxn modelId="{E1E21BCA-F7FA-4E95-AB48-2DB875616002}" srcId="{D11F70CB-3F47-429E-A6A4-71BE1D65A255}" destId="{4218F08D-EF0C-4D05-AC01-F50E156062A5}" srcOrd="4" destOrd="0" parTransId="{9E724559-CE62-49D7-8834-BC60A150EDBD}" sibTransId="{B393B537-D526-4E66-B7AE-4513AE00FEC4}"/>
    <dgm:cxn modelId="{40293ECC-EF84-E84F-AB85-FFF7DBF89006}" type="presOf" srcId="{D11F70CB-3F47-429E-A6A4-71BE1D65A255}" destId="{F75379BE-96AC-F74B-A557-6F699284D84D}" srcOrd="0" destOrd="0" presId="urn:microsoft.com/office/officeart/2005/8/layout/default"/>
    <dgm:cxn modelId="{F102A5EA-2399-E944-B173-6BFA75F7B327}" type="presOf" srcId="{4218F08D-EF0C-4D05-AC01-F50E156062A5}" destId="{E9A3F2A9-44B3-BE40-8986-FF6D5F1306B9}" srcOrd="0" destOrd="0" presId="urn:microsoft.com/office/officeart/2005/8/layout/default"/>
    <dgm:cxn modelId="{24CA58B4-A921-CB4D-A72C-09D9008A71A5}" type="presParOf" srcId="{F75379BE-96AC-F74B-A557-6F699284D84D}" destId="{8A939B82-82B7-CE4F-8208-952041D2ACDB}" srcOrd="0" destOrd="0" presId="urn:microsoft.com/office/officeart/2005/8/layout/default"/>
    <dgm:cxn modelId="{40D5F899-23A1-844A-8BCC-F94BFD08D82E}" type="presParOf" srcId="{F75379BE-96AC-F74B-A557-6F699284D84D}" destId="{A205C3E2-1E5E-704D-96DA-D7C857858640}" srcOrd="1" destOrd="0" presId="urn:microsoft.com/office/officeart/2005/8/layout/default"/>
    <dgm:cxn modelId="{2DCB0A94-4552-A247-AC01-7092BE7C69D9}" type="presParOf" srcId="{F75379BE-96AC-F74B-A557-6F699284D84D}" destId="{BA18A528-811F-E14D-84CF-44F23E3848EC}" srcOrd="2" destOrd="0" presId="urn:microsoft.com/office/officeart/2005/8/layout/default"/>
    <dgm:cxn modelId="{9EF35901-D7E7-0448-BA5A-FADC52D30990}" type="presParOf" srcId="{F75379BE-96AC-F74B-A557-6F699284D84D}" destId="{9C973F68-823E-7A42-861F-436AE792B9D8}" srcOrd="3" destOrd="0" presId="urn:microsoft.com/office/officeart/2005/8/layout/default"/>
    <dgm:cxn modelId="{78D556CF-CBD9-904F-894C-7C691423F0A0}" type="presParOf" srcId="{F75379BE-96AC-F74B-A557-6F699284D84D}" destId="{9D4AFCD8-CE6B-1A47-91DD-E124DECC0ECE}" srcOrd="4" destOrd="0" presId="urn:microsoft.com/office/officeart/2005/8/layout/default"/>
    <dgm:cxn modelId="{6468EC72-7666-3E48-9858-4BC946EDF099}" type="presParOf" srcId="{F75379BE-96AC-F74B-A557-6F699284D84D}" destId="{6156037E-7D7D-9949-9710-5F979411CE23}" srcOrd="5" destOrd="0" presId="urn:microsoft.com/office/officeart/2005/8/layout/default"/>
    <dgm:cxn modelId="{2FA24A3C-B1E2-2F4A-9825-C4D8161CDB64}" type="presParOf" srcId="{F75379BE-96AC-F74B-A557-6F699284D84D}" destId="{AEEE7DD1-B772-D347-BE8F-AC9374ED6A6E}" srcOrd="6" destOrd="0" presId="urn:microsoft.com/office/officeart/2005/8/layout/default"/>
    <dgm:cxn modelId="{1845DC9A-2B2E-0445-AF5F-2AA097728B19}" type="presParOf" srcId="{F75379BE-96AC-F74B-A557-6F699284D84D}" destId="{993BBFD7-8F0E-AB4A-BF6B-5C6902FD7BBC}" srcOrd="7" destOrd="0" presId="urn:microsoft.com/office/officeart/2005/8/layout/default"/>
    <dgm:cxn modelId="{040F7CAB-66FA-A549-A574-5E8FE40A0EE9}" type="presParOf" srcId="{F75379BE-96AC-F74B-A557-6F699284D84D}" destId="{E9A3F2A9-44B3-BE40-8986-FF6D5F1306B9}" srcOrd="8" destOrd="0" presId="urn:microsoft.com/office/officeart/2005/8/layout/default"/>
    <dgm:cxn modelId="{51680DFA-2E37-1D49-A8A0-82CBB807D640}" type="presParOf" srcId="{F75379BE-96AC-F74B-A557-6F699284D84D}" destId="{A1A464E3-3DF8-B444-9DEC-5F62029C86AF}" srcOrd="9" destOrd="0" presId="urn:microsoft.com/office/officeart/2005/8/layout/default"/>
    <dgm:cxn modelId="{539DD19F-9512-E04C-AB61-B53B5895BB08}" type="presParOf" srcId="{F75379BE-96AC-F74B-A557-6F699284D84D}" destId="{CA56FEC5-4C8D-1645-A1EB-9D83E7AF614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CA3A7-73E2-9F4E-9F6B-1052FE53B7FB}">
      <dsp:nvSpPr>
        <dsp:cNvPr id="0" name=""/>
        <dsp:cNvSpPr/>
      </dsp:nvSpPr>
      <dsp:spPr>
        <a:xfrm>
          <a:off x="0" y="2835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C406D-904C-694F-9D7D-8391A645108D}">
      <dsp:nvSpPr>
        <dsp:cNvPr id="0" name=""/>
        <dsp:cNvSpPr/>
      </dsp:nvSpPr>
      <dsp:spPr>
        <a:xfrm>
          <a:off x="0" y="2835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Problem Statement</a:t>
          </a:r>
          <a:endParaRPr lang="en-US" sz="4300" kern="1200"/>
        </a:p>
      </dsp:txBody>
      <dsp:txXfrm>
        <a:off x="0" y="2835"/>
        <a:ext cx="7315200" cy="966794"/>
      </dsp:txXfrm>
    </dsp:sp>
    <dsp:sp modelId="{F9171AB1-A199-424B-AB83-BE36BF98165E}">
      <dsp:nvSpPr>
        <dsp:cNvPr id="0" name=""/>
        <dsp:cNvSpPr/>
      </dsp:nvSpPr>
      <dsp:spPr>
        <a:xfrm>
          <a:off x="0" y="96963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FE92D-F340-9A47-9B8B-4B807F7A9B39}">
      <dsp:nvSpPr>
        <dsp:cNvPr id="0" name=""/>
        <dsp:cNvSpPr/>
      </dsp:nvSpPr>
      <dsp:spPr>
        <a:xfrm>
          <a:off x="0" y="969630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Data Sources</a:t>
          </a:r>
          <a:endParaRPr lang="en-US" sz="4300" kern="1200"/>
        </a:p>
      </dsp:txBody>
      <dsp:txXfrm>
        <a:off x="0" y="969630"/>
        <a:ext cx="7315200" cy="966794"/>
      </dsp:txXfrm>
    </dsp:sp>
    <dsp:sp modelId="{045165A8-7774-7142-A6D0-7D873B6D6D8A}">
      <dsp:nvSpPr>
        <dsp:cNvPr id="0" name=""/>
        <dsp:cNvSpPr/>
      </dsp:nvSpPr>
      <dsp:spPr>
        <a:xfrm>
          <a:off x="0" y="1936425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41848-D9AA-CA4E-BFFA-5976AD1B7EC9}">
      <dsp:nvSpPr>
        <dsp:cNvPr id="0" name=""/>
        <dsp:cNvSpPr/>
      </dsp:nvSpPr>
      <dsp:spPr>
        <a:xfrm>
          <a:off x="0" y="1936425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Key EDA Findings</a:t>
          </a:r>
          <a:endParaRPr lang="en-US" sz="4300" kern="1200"/>
        </a:p>
      </dsp:txBody>
      <dsp:txXfrm>
        <a:off x="0" y="1936425"/>
        <a:ext cx="7315200" cy="966794"/>
      </dsp:txXfrm>
    </dsp:sp>
    <dsp:sp modelId="{4E18152D-C68F-CA41-B1AF-2224958FEC99}">
      <dsp:nvSpPr>
        <dsp:cNvPr id="0" name=""/>
        <dsp:cNvSpPr/>
      </dsp:nvSpPr>
      <dsp:spPr>
        <a:xfrm>
          <a:off x="0" y="290322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5C453-3E39-DB44-BF93-4299A9AECBB6}">
      <dsp:nvSpPr>
        <dsp:cNvPr id="0" name=""/>
        <dsp:cNvSpPr/>
      </dsp:nvSpPr>
      <dsp:spPr>
        <a:xfrm>
          <a:off x="0" y="2903220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Modeling Approach</a:t>
          </a:r>
          <a:endParaRPr lang="en-US" sz="4300" kern="1200"/>
        </a:p>
      </dsp:txBody>
      <dsp:txXfrm>
        <a:off x="0" y="2903220"/>
        <a:ext cx="7315200" cy="966794"/>
      </dsp:txXfrm>
    </dsp:sp>
    <dsp:sp modelId="{3CB6711C-9DDC-4C40-9FCF-9FA31525A743}">
      <dsp:nvSpPr>
        <dsp:cNvPr id="0" name=""/>
        <dsp:cNvSpPr/>
      </dsp:nvSpPr>
      <dsp:spPr>
        <a:xfrm>
          <a:off x="0" y="387001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BA0E3-70FF-1844-9DF0-140AAFE99862}">
      <dsp:nvSpPr>
        <dsp:cNvPr id="0" name=""/>
        <dsp:cNvSpPr/>
      </dsp:nvSpPr>
      <dsp:spPr>
        <a:xfrm>
          <a:off x="0" y="3870014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Results</a:t>
          </a:r>
          <a:endParaRPr lang="en-US" sz="4300" kern="1200"/>
        </a:p>
      </dsp:txBody>
      <dsp:txXfrm>
        <a:off x="0" y="3870014"/>
        <a:ext cx="7315200" cy="966794"/>
      </dsp:txXfrm>
    </dsp:sp>
    <dsp:sp modelId="{09A3F533-DFEB-4143-9B1E-B38305C94894}">
      <dsp:nvSpPr>
        <dsp:cNvPr id="0" name=""/>
        <dsp:cNvSpPr/>
      </dsp:nvSpPr>
      <dsp:spPr>
        <a:xfrm>
          <a:off x="0" y="483680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32A28-5437-9949-8812-866EEAFBA6F5}">
      <dsp:nvSpPr>
        <dsp:cNvPr id="0" name=""/>
        <dsp:cNvSpPr/>
      </dsp:nvSpPr>
      <dsp:spPr>
        <a:xfrm>
          <a:off x="0" y="4836809"/>
          <a:ext cx="7315200" cy="96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Recommendations</a:t>
          </a:r>
          <a:endParaRPr lang="en-US" sz="4300" kern="1200"/>
        </a:p>
      </dsp:txBody>
      <dsp:txXfrm>
        <a:off x="0" y="4836809"/>
        <a:ext cx="7315200" cy="966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7A9BD-A89B-454A-A3C8-BC6707C5BB6A}">
      <dsp:nvSpPr>
        <dsp:cNvPr id="0" name=""/>
        <dsp:cNvSpPr/>
      </dsp:nvSpPr>
      <dsp:spPr>
        <a:xfrm>
          <a:off x="0" y="2409"/>
          <a:ext cx="7315200" cy="1221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8A9C0-BB36-40E2-AE53-DE0B4EBE74E8}">
      <dsp:nvSpPr>
        <dsp:cNvPr id="0" name=""/>
        <dsp:cNvSpPr/>
      </dsp:nvSpPr>
      <dsp:spPr>
        <a:xfrm>
          <a:off x="369471" y="277223"/>
          <a:ext cx="671766" cy="671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FC738-A91F-42B7-98F7-758FF925311E}">
      <dsp:nvSpPr>
        <dsp:cNvPr id="0" name=""/>
        <dsp:cNvSpPr/>
      </dsp:nvSpPr>
      <dsp:spPr>
        <a:xfrm>
          <a:off x="1410709" y="2409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Where are rents heading next?</a:t>
          </a:r>
        </a:p>
      </dsp:txBody>
      <dsp:txXfrm>
        <a:off x="1410709" y="2409"/>
        <a:ext cx="5904490" cy="1221393"/>
      </dsp:txXfrm>
    </dsp:sp>
    <dsp:sp modelId="{8A516728-0415-42C9-B13A-FA9F152D6C40}">
      <dsp:nvSpPr>
        <dsp:cNvPr id="0" name=""/>
        <dsp:cNvSpPr/>
      </dsp:nvSpPr>
      <dsp:spPr>
        <a:xfrm>
          <a:off x="0" y="1529152"/>
          <a:ext cx="7315200" cy="1221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CD245-6857-4EE4-9F2E-B6F123C46089}">
      <dsp:nvSpPr>
        <dsp:cNvPr id="0" name=""/>
        <dsp:cNvSpPr/>
      </dsp:nvSpPr>
      <dsp:spPr>
        <a:xfrm>
          <a:off x="369471" y="1803965"/>
          <a:ext cx="671766" cy="671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1D9-1A15-4923-BA3D-F7B4CC8B32FA}">
      <dsp:nvSpPr>
        <dsp:cNvPr id="0" name=""/>
        <dsp:cNvSpPr/>
      </dsp:nvSpPr>
      <dsp:spPr>
        <a:xfrm>
          <a:off x="1410709" y="1529152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pain – Investors rely on lagging reports that arrive months after the market has already changed</a:t>
          </a:r>
        </a:p>
      </dsp:txBody>
      <dsp:txXfrm>
        <a:off x="1410709" y="1529152"/>
        <a:ext cx="5904490" cy="1221393"/>
      </dsp:txXfrm>
    </dsp:sp>
    <dsp:sp modelId="{545D0831-9BD6-44B3-A09D-FDAE860C56CA}">
      <dsp:nvSpPr>
        <dsp:cNvPr id="0" name=""/>
        <dsp:cNvSpPr/>
      </dsp:nvSpPr>
      <dsp:spPr>
        <a:xfrm>
          <a:off x="0" y="3055894"/>
          <a:ext cx="7315200" cy="1221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2A085-F2A4-4A31-9E93-44D6B0EEF958}">
      <dsp:nvSpPr>
        <dsp:cNvPr id="0" name=""/>
        <dsp:cNvSpPr/>
      </dsp:nvSpPr>
      <dsp:spPr>
        <a:xfrm>
          <a:off x="369471" y="3330707"/>
          <a:ext cx="671766" cy="671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77D6F-09D4-48F5-B627-DF48F52BBD4C}">
      <dsp:nvSpPr>
        <dsp:cNvPr id="0" name=""/>
        <dsp:cNvSpPr/>
      </dsp:nvSpPr>
      <dsp:spPr>
        <a:xfrm>
          <a:off x="1410709" y="3055894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gap – No tool exists that uses real econocmice sugnals to forecast rent growth before it happens</a:t>
          </a:r>
        </a:p>
      </dsp:txBody>
      <dsp:txXfrm>
        <a:off x="1410709" y="3055894"/>
        <a:ext cx="5904490" cy="1221393"/>
      </dsp:txXfrm>
    </dsp:sp>
    <dsp:sp modelId="{D5EC0E48-F4F3-4363-9885-E302C6DB209D}">
      <dsp:nvSpPr>
        <dsp:cNvPr id="0" name=""/>
        <dsp:cNvSpPr/>
      </dsp:nvSpPr>
      <dsp:spPr>
        <a:xfrm>
          <a:off x="0" y="4582636"/>
          <a:ext cx="7315200" cy="1221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ED4EC-090E-46E8-83DD-1E5737C3E039}">
      <dsp:nvSpPr>
        <dsp:cNvPr id="0" name=""/>
        <dsp:cNvSpPr/>
      </dsp:nvSpPr>
      <dsp:spPr>
        <a:xfrm>
          <a:off x="369471" y="4857449"/>
          <a:ext cx="671766" cy="6717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6C7DC-27F5-4593-AD89-D605CB8A0CF3}">
      <dsp:nvSpPr>
        <dsp:cNvPr id="0" name=""/>
        <dsp:cNvSpPr/>
      </dsp:nvSpPr>
      <dsp:spPr>
        <a:xfrm>
          <a:off x="1410709" y="4582636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goal – build a regression model that predicts year over year rent growth using leading economic indicatiors</a:t>
          </a:r>
        </a:p>
      </dsp:txBody>
      <dsp:txXfrm>
        <a:off x="1410709" y="4582636"/>
        <a:ext cx="5904490" cy="1221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39B82-82B7-CE4F-8208-952041D2ACDB}">
      <dsp:nvSpPr>
        <dsp:cNvPr id="0" name=""/>
        <dsp:cNvSpPr/>
      </dsp:nvSpPr>
      <dsp:spPr>
        <a:xfrm>
          <a:off x="813048" y="357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rental market went through a dramatic boom and bust cycle from 2020 to 2025.</a:t>
          </a:r>
        </a:p>
      </dsp:txBody>
      <dsp:txXfrm>
        <a:off x="813048" y="357"/>
        <a:ext cx="2491382" cy="1494829"/>
      </dsp:txXfrm>
    </dsp:sp>
    <dsp:sp modelId="{BA18A528-811F-E14D-84CF-44F23E3848EC}">
      <dsp:nvSpPr>
        <dsp:cNvPr id="0" name=""/>
        <dsp:cNvSpPr/>
      </dsp:nvSpPr>
      <dsp:spPr>
        <a:xfrm>
          <a:off x="3553569" y="357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Low vacancy in 2021 to 2022 gave landlords pricing power causing the rent spike.</a:t>
          </a:r>
        </a:p>
      </dsp:txBody>
      <dsp:txXfrm>
        <a:off x="3553569" y="357"/>
        <a:ext cx="2491382" cy="1494829"/>
      </dsp:txXfrm>
    </dsp:sp>
    <dsp:sp modelId="{9D4AFCD8-CE6B-1A47-91DD-E124DECC0ECE}">
      <dsp:nvSpPr>
        <dsp:cNvPr id="0" name=""/>
        <dsp:cNvSpPr/>
      </dsp:nvSpPr>
      <dsp:spPr>
        <a:xfrm>
          <a:off x="813048" y="1744325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Building permits surged to 1,900K in 2021. Those units hit the market in 2024 to 2025 causing oversupply.</a:t>
          </a:r>
        </a:p>
      </dsp:txBody>
      <dsp:txXfrm>
        <a:off x="813048" y="1744325"/>
        <a:ext cx="2491382" cy="1494829"/>
      </dsp:txXfrm>
    </dsp:sp>
    <dsp:sp modelId="{AEEE7DD1-B772-D347-BE8F-AC9374ED6A6E}">
      <dsp:nvSpPr>
        <dsp:cNvPr id="0" name=""/>
        <dsp:cNvSpPr/>
      </dsp:nvSpPr>
      <dsp:spPr>
        <a:xfrm>
          <a:off x="3553569" y="1744325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Class A peaked highest at 14.5% growth. Class C was the most stable with smaller swings.</a:t>
          </a:r>
        </a:p>
      </dsp:txBody>
      <dsp:txXfrm>
        <a:off x="3553569" y="1744325"/>
        <a:ext cx="2491382" cy="1494829"/>
      </dsp:txXfrm>
    </dsp:sp>
    <dsp:sp modelId="{E9A3F2A9-44B3-BE40-8986-FF6D5F1306B9}">
      <dsp:nvSpPr>
        <dsp:cNvPr id="0" name=""/>
        <dsp:cNvSpPr/>
      </dsp:nvSpPr>
      <dsp:spPr>
        <a:xfrm>
          <a:off x="813048" y="3488293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three property classes moved together with correlations above 0.95 for rent levels.</a:t>
          </a:r>
        </a:p>
      </dsp:txBody>
      <dsp:txXfrm>
        <a:off x="813048" y="3488293"/>
        <a:ext cx="2491382" cy="1494829"/>
      </dsp:txXfrm>
    </dsp:sp>
    <dsp:sp modelId="{CA56FEC5-4C8D-1645-A1EB-9D83E7AF6148}">
      <dsp:nvSpPr>
        <dsp:cNvPr id="0" name=""/>
        <dsp:cNvSpPr/>
      </dsp:nvSpPr>
      <dsp:spPr>
        <a:xfrm>
          <a:off x="3553569" y="3488293"/>
          <a:ext cx="2491382" cy="1494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Building permits and vacancy rate were the strongest predictors of rent growth.</a:t>
          </a:r>
        </a:p>
      </dsp:txBody>
      <dsp:txXfrm>
        <a:off x="3553569" y="3488293"/>
        <a:ext cx="2491382" cy="1494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1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4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4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7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9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8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31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2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2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57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90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37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93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17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8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4/17/26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02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6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60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96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4/17/26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24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80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4/17/26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97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01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4/17/26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18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12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76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190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512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97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825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467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018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49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69693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854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45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025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0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553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532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81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43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4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977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688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65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41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F757-731E-181E-F930-CA1B057A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sz="2500" b="1"/>
              <a:t>Multifamily Risk Score</a:t>
            </a:r>
            <a:br>
              <a:rPr lang="en-US" sz="2500"/>
            </a:br>
            <a:endParaRPr lang="en-US" sz="2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AA359-330B-4232-70BC-7555386A5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Daksha Gummadi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DB113A8-9530-4F77-D543-2C04F7A9B2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9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87DD-679B-8C42-2797-C24BDC27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05D6F0-936F-5E0C-5597-BE2FBDCD41F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3884929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946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6FB1-2260-C0E9-201B-555C73DF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anchor="t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6018F5-13CD-2583-799D-BEF231735F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58774827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714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675A-B112-5E9C-2C80-2E79D7F1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/>
          <a:p>
            <a:r>
              <a:rPr lang="en-US"/>
              <a:t>Data Sources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CBB8-3291-EDB3-440F-DC6993EFA4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Zillow ZORI - </a:t>
            </a:r>
            <a:r>
              <a:rPr lang="en-US" sz="1000" dirty="0"/>
              <a:t>Observed Rent Index for 544 US metros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2015 to 2025  |  Monthly rent in dollars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FRED Vacancy Rate - </a:t>
            </a:r>
            <a:r>
              <a:rPr lang="en-US" sz="1000" dirty="0"/>
              <a:t>National rental vacancy rate quarterly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RRVRUSQ156N from US Census Bureau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FRED Building Permits - </a:t>
            </a:r>
            <a:r>
              <a:rPr lang="en-US" sz="1000" dirty="0"/>
              <a:t>New housing permits issued monthly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PERMIT series in thousands of units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FRED Timber PPI - </a:t>
            </a:r>
            <a:r>
              <a:rPr lang="en-US" sz="1000" dirty="0"/>
              <a:t>Producer Price Index for lumber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WPU081  |  Construction cost signal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FRED CPI Inflation - </a:t>
            </a:r>
            <a:r>
              <a:rPr lang="en-US" sz="1000" dirty="0"/>
              <a:t>Consumer Price Index year over year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CPIAUCSL  |  Purchasing power signal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/>
              <a:t>FRED Unemployment - </a:t>
            </a:r>
            <a:r>
              <a:rPr lang="en-US" sz="1000" dirty="0"/>
              <a:t>National unemployment rate monthly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/>
              <a:t>UNRATE  |  Labor market demand signal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21891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CC8F-3F2B-2C76-7490-025F5AE5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>
            <a:normAutofit/>
          </a:bodyPr>
          <a:lstStyle/>
          <a:p>
            <a:r>
              <a:rPr lang="en-US" sz="2800" dirty="0"/>
              <a:t>Key EDA Findings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5750520-61A4-2DF8-AAAE-AB706F0B8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610459F-35B4-E447-FE6B-F1FDEDB5DB0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94999090"/>
              </p:ext>
            </p:extLst>
          </p:nvPr>
        </p:nvGraphicFramePr>
        <p:xfrm>
          <a:off x="4745736" y="1380744"/>
          <a:ext cx="68580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036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BE33-572E-072C-E058-BD2ECBEC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057619-9B05-B630-C3B8-44962B4882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9E67D-11A6-0F06-3A94-126D532E07F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Stationarity Test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Used Augmented Dickey Fuller test on all features. Vacancy rate, permits, and inflation failed. Applied first differencing to make them stationary before modeling.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cs typeface="Calibri" pitchFamily="34" charset="-120"/>
              </a:rPr>
              <a:t>Sliding Window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12 month window slides one month at a time. Each window predicts the 13th month. Features are mean, std, min, max over the window. Produced 43 rows with 32 features.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cs typeface="Calibri" pitchFamily="34" charset="-120"/>
              </a:rPr>
              <a:t>Train and Test Split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Chronological 80/20 split. No shuffling because this is time series data.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TimeSeriesSplit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with 5 folds for cross validation inside the training set.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Three Models Built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Linear Regression as baseline. Ridge Regression with alpha tuning. Random Forest with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tuning across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min_samples_leaf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55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4347-B766-535D-3462-9EB36EAF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Model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0ED8B-2336-AFF8-2E91-DB4CCDE25C47}"/>
              </a:ext>
            </a:extLst>
          </p:cNvPr>
          <p:cNvSpPr txBox="1"/>
          <p:nvPr/>
        </p:nvSpPr>
        <p:spPr>
          <a:xfrm>
            <a:off x="612775" y="2212975"/>
            <a:ext cx="4360863" cy="4095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Why random forest won?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Only model with a positive Test R2 meaning it actually learned useful patterns from the data.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Linear Regression and Ridge both scored negative Test R2 meaning they were worse than just guessing the average.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Random Forest builds many trees and averages predictions which reduces overfitting on small datasets.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Lowest prediction errors with MAE of 0.56 and RMSE of 0.65 percentage points.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0A6CE74E-F266-B86E-55D0-5319AF206C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5745480" y="2727942"/>
            <a:ext cx="6446520" cy="14021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852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63-D899-B2C8-98CA-0B0B374B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>
            <a:normAutofit/>
          </a:bodyPr>
          <a:lstStyle/>
          <a:p>
            <a:r>
              <a:rPr lang="en-US" dirty="0"/>
              <a:t>What Drove the Model</a:t>
            </a:r>
          </a:p>
        </p:txBody>
      </p:sp>
      <p:pic>
        <p:nvPicPr>
          <p:cNvPr id="10" name="Picture Placeholder 9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3C9EA5BA-D3BD-EA98-7869-02EC5A1507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036" r="3" b="4039"/>
          <a:stretch>
            <a:fillRect/>
          </a:stretch>
        </p:blipFill>
        <p:spPr>
          <a:xfrm>
            <a:off x="612645" y="1828800"/>
            <a:ext cx="6172200" cy="442569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9BC8-1CF3-AB08-680E-7A8260FB4F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/>
              <a:t>Building Permits - Dominated the model at 0.33 and 0.23. Permits predict future supply. The model learned that high permits mean future softness in rents.</a:t>
            </a:r>
          </a:p>
          <a:p>
            <a:pPr>
              <a:lnSpc>
                <a:spcPct val="110000"/>
              </a:lnSpc>
            </a:pPr>
            <a:r>
              <a:rPr lang="en-US" sz="1600"/>
              <a:t>Vacancy Rate - Mean, min, and max all appeared in the top features. Low vacancy gives landlords pricing power. High vacancy puts downward pressure on rents.</a:t>
            </a:r>
          </a:p>
          <a:p>
            <a:pPr>
              <a:lnSpc>
                <a:spcPct val="110000"/>
              </a:lnSpc>
            </a:pPr>
            <a:r>
              <a:rPr lang="en-US" sz="1600"/>
              <a:t>Economic Features - Lumber prices, inflation, and unemployment all contributed but ranked lower. They provided supporting context rather than primary signals.</a:t>
            </a:r>
          </a:p>
          <a:p>
            <a:pPr>
              <a:lnSpc>
                <a:spcPct val="110000"/>
              </a:lnSpc>
            </a:pPr>
            <a:endParaRPr lang="en-US" sz="1600"/>
          </a:p>
          <a:p>
            <a:pPr>
              <a:lnSpc>
                <a:spcPct val="11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2388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A885-5F82-4D5C-994F-369BB8AA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30CDC6-F6EE-DC68-907B-5B3E116EE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59382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Watch </a:t>
            </a:r>
            <a:r>
              <a:rPr lang="en-US" dirty="0" err="1"/>
              <a:t>Buidling</a:t>
            </a:r>
            <a:r>
              <a:rPr lang="en-US" dirty="0"/>
              <a:t> permits because p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ermits were the most important predictor by a wide margin. When permits start declining from elevated levels it signals future supply pressure will ease and rents may stabilize or recover. Monitor FRED PERMIT data monthly.</a:t>
            </a:r>
          </a:p>
          <a:p>
            <a:pPr>
              <a:buFontTx/>
              <a:buChar char="-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Use Vacancy as a Risk Gauge because when vacancy climbs above 6.5 to 7 percent it is a strong signal that rent growth will slow or turn negative. Operators should consider locking in longer lease terms before vacancy rises to protect revenue.</a:t>
            </a:r>
            <a:endParaRPr lang="en-US" dirty="0"/>
          </a:p>
          <a:p>
            <a:pPr>
              <a:buFontTx/>
              <a:buChar char="-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Consider Class C for Stability because Class A had the biggest swings peaking at 14.5 percent then dropping to negative. Class C was more stable throughout the cycle. Investors seeking consistent returns should consider affordable housing.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28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3230-FE3E-0C0A-25C7-10448873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 anchor="t">
            <a:normAutofit/>
          </a:bodyPr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48B07FD-2F33-1231-B516-19140D3C2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47018"/>
            <a:ext cx="5157788" cy="376396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Future Work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Add mortgage rate and interest rate data from FRED.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Expand to metro level modeling using the full Zillow dataset.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Test </a:t>
            </a:r>
            <a:r>
              <a:rPr lang="en-US" sz="1700" dirty="0" err="1"/>
              <a:t>XGBoost</a:t>
            </a:r>
            <a:r>
              <a:rPr lang="en-US" sz="1700" dirty="0"/>
              <a:t> and gradient boosting once more data is available.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Gather more historical years to grow the training set.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6C44BC2-ACC7-6278-C2EB-D74DD4CC20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618853"/>
            <a:ext cx="5183188" cy="376396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Limitations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Data only covers 2020 to 2025 including the unusual COVID period.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Predictions are at national average level not metro level.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Test set is only 9 months which limits score confidence.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</a:pPr>
            <a:r>
              <a:rPr lang="en-US" sz="1700" dirty="0"/>
              <a:t>Test R2 of 0.08 is low. Model is directionally useful but not yet production ready.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1703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8C59E-9DD0-56FF-0E2D-D5A7B8B12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/>
          <a:p>
            <a:r>
              <a:rPr lang="en-US" sz="5000" dirty="0"/>
              <a:t>Thank you!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EE7974-4BC0-D16A-F135-77969A3D6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/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daksha</a:t>
            </a:r>
            <a:r>
              <a:rPr lang="en-US" dirty="0"/>
              <a:t>-g/Multifamily-Risk-Score-Capstone</a:t>
            </a:r>
          </a:p>
        </p:txBody>
      </p:sp>
    </p:spTree>
    <p:extLst>
      <p:ext uri="{BB962C8B-B14F-4D97-AF65-F5344CB8AC3E}">
        <p14:creationId xmlns:p14="http://schemas.microsoft.com/office/powerpoint/2010/main" val="244757079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803</Words>
  <Application>Microsoft Macintosh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Neue Haas Grotesk Text Pro</vt:lpstr>
      <vt:lpstr>Helena</vt:lpstr>
      <vt:lpstr>Multifamily Risk Score </vt:lpstr>
      <vt:lpstr>Agenda</vt:lpstr>
      <vt:lpstr>Problem statement</vt:lpstr>
      <vt:lpstr>Data Sources </vt:lpstr>
      <vt:lpstr>Key EDA Findings </vt:lpstr>
      <vt:lpstr>Modeling Approach</vt:lpstr>
      <vt:lpstr>Model Results</vt:lpstr>
      <vt:lpstr>What Drove the Model</vt:lpstr>
      <vt:lpstr>Recommendations</vt:lpstr>
      <vt:lpstr>Limitations &amp; Future Work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Daksha Gummadi</dc:creator>
  <cp:lastModifiedBy>Daksha Gummadi</cp:lastModifiedBy>
  <cp:revision>1</cp:revision>
  <dcterms:created xsi:type="dcterms:W3CDTF">2026-04-17T13:47:57Z</dcterms:created>
  <dcterms:modified xsi:type="dcterms:W3CDTF">2026-04-17T14:18:38Z</dcterms:modified>
</cp:coreProperties>
</file>